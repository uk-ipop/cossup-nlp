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77"/>
    <p:restoredTop sz="61499"/>
  </p:normalViewPr>
  <p:slideViewPr>
    <p:cSldViewPr snapToGrid="0">
      <p:cViewPr varScale="1">
        <p:scale>
          <a:sx n="80" d="100"/>
          <a:sy n="80" d="100"/>
        </p:scale>
        <p:origin x="2024" y="192"/>
      </p:cViewPr>
      <p:guideLst/>
    </p:cSldViewPr>
  </p:slideViewPr>
  <p:notesTextViewPr>
    <p:cViewPr>
      <p:scale>
        <a:sx n="1" d="1"/>
        <a:sy n="1" d="1"/>
      </p:scale>
      <p:origin x="0" y="-11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508A04-2182-4E68-90DF-27BABCE9D095}"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42570BB0-EDBA-47A7-9EF5-4A480261CA40}">
      <dgm:prSet/>
      <dgm:spPr/>
      <dgm:t>
        <a:bodyPr/>
        <a:lstStyle/>
        <a:p>
          <a:r>
            <a:rPr lang="en-US"/>
            <a:t>PDF text extraction</a:t>
          </a:r>
        </a:p>
      </dgm:t>
    </dgm:pt>
    <dgm:pt modelId="{BA8EB880-609C-4D74-B1C4-D9C700DBE222}" type="parTrans" cxnId="{AE240034-5351-40E7-9375-7A0095068199}">
      <dgm:prSet/>
      <dgm:spPr/>
      <dgm:t>
        <a:bodyPr/>
        <a:lstStyle/>
        <a:p>
          <a:endParaRPr lang="en-US"/>
        </a:p>
      </dgm:t>
    </dgm:pt>
    <dgm:pt modelId="{4B22005F-6BB0-427B-B4DC-D9A3F3151A66}" type="sibTrans" cxnId="{AE240034-5351-40E7-9375-7A0095068199}">
      <dgm:prSet/>
      <dgm:spPr/>
      <dgm:t>
        <a:bodyPr/>
        <a:lstStyle/>
        <a:p>
          <a:endParaRPr lang="en-US"/>
        </a:p>
      </dgm:t>
    </dgm:pt>
    <dgm:pt modelId="{41424623-5FAC-45D0-9128-5F88498DB40C}">
      <dgm:prSet/>
      <dgm:spPr/>
      <dgm:t>
        <a:bodyPr/>
        <a:lstStyle/>
        <a:p>
          <a:r>
            <a:rPr lang="en-US"/>
            <a:t>Biomedical concept recognition</a:t>
          </a:r>
        </a:p>
      </dgm:t>
    </dgm:pt>
    <dgm:pt modelId="{CFF33E96-2263-420D-A039-18EC9D8F2C32}" type="parTrans" cxnId="{8C462EC8-BED2-44A1-A40C-0260741FA24E}">
      <dgm:prSet/>
      <dgm:spPr/>
      <dgm:t>
        <a:bodyPr/>
        <a:lstStyle/>
        <a:p>
          <a:endParaRPr lang="en-US"/>
        </a:p>
      </dgm:t>
    </dgm:pt>
    <dgm:pt modelId="{94835EE2-0296-4E01-8964-122773958BAC}" type="sibTrans" cxnId="{8C462EC8-BED2-44A1-A40C-0260741FA24E}">
      <dgm:prSet/>
      <dgm:spPr/>
      <dgm:t>
        <a:bodyPr/>
        <a:lstStyle/>
        <a:p>
          <a:endParaRPr lang="en-US"/>
        </a:p>
      </dgm:t>
    </dgm:pt>
    <dgm:pt modelId="{73D1188A-653B-4993-B383-BFB1BEB4E083}">
      <dgm:prSet/>
      <dgm:spPr/>
      <dgm:t>
        <a:bodyPr/>
        <a:lstStyle/>
        <a:p>
          <a:r>
            <a:rPr lang="en-US"/>
            <a:t>Large Language Models</a:t>
          </a:r>
        </a:p>
      </dgm:t>
    </dgm:pt>
    <dgm:pt modelId="{ECBC1BA0-1C5A-4504-871A-59983D117BE4}" type="parTrans" cxnId="{31E5F0FD-A601-4154-AE4E-B307835C3677}">
      <dgm:prSet/>
      <dgm:spPr/>
      <dgm:t>
        <a:bodyPr/>
        <a:lstStyle/>
        <a:p>
          <a:endParaRPr lang="en-US"/>
        </a:p>
      </dgm:t>
    </dgm:pt>
    <dgm:pt modelId="{060D1215-757C-46B0-89C4-58D95387918A}" type="sibTrans" cxnId="{31E5F0FD-A601-4154-AE4E-B307835C3677}">
      <dgm:prSet/>
      <dgm:spPr/>
      <dgm:t>
        <a:bodyPr/>
        <a:lstStyle/>
        <a:p>
          <a:endParaRPr lang="en-US"/>
        </a:p>
      </dgm:t>
    </dgm:pt>
    <dgm:pt modelId="{C01DCF57-4818-CB4D-948B-BD3B8B05DA76}" type="pres">
      <dgm:prSet presAssocID="{C8508A04-2182-4E68-90DF-27BABCE9D095}" presName="diagram" presStyleCnt="0">
        <dgm:presLayoutVars>
          <dgm:dir/>
          <dgm:resizeHandles val="exact"/>
        </dgm:presLayoutVars>
      </dgm:prSet>
      <dgm:spPr/>
    </dgm:pt>
    <dgm:pt modelId="{D0974B51-85ED-8C4C-BB35-1C15602771C1}" type="pres">
      <dgm:prSet presAssocID="{42570BB0-EDBA-47A7-9EF5-4A480261CA40}" presName="node" presStyleLbl="node1" presStyleIdx="0" presStyleCnt="3">
        <dgm:presLayoutVars>
          <dgm:bulletEnabled val="1"/>
        </dgm:presLayoutVars>
      </dgm:prSet>
      <dgm:spPr/>
    </dgm:pt>
    <dgm:pt modelId="{B25247A0-6BAF-6C4A-99DF-F60CF97E9AA8}" type="pres">
      <dgm:prSet presAssocID="{4B22005F-6BB0-427B-B4DC-D9A3F3151A66}" presName="sibTrans" presStyleCnt="0"/>
      <dgm:spPr/>
    </dgm:pt>
    <dgm:pt modelId="{C5B68F64-44D8-4748-991C-36D958B2058C}" type="pres">
      <dgm:prSet presAssocID="{41424623-5FAC-45D0-9128-5F88498DB40C}" presName="node" presStyleLbl="node1" presStyleIdx="1" presStyleCnt="3">
        <dgm:presLayoutVars>
          <dgm:bulletEnabled val="1"/>
        </dgm:presLayoutVars>
      </dgm:prSet>
      <dgm:spPr/>
    </dgm:pt>
    <dgm:pt modelId="{74226B7C-7A13-FC40-B8F2-774F4320822C}" type="pres">
      <dgm:prSet presAssocID="{94835EE2-0296-4E01-8964-122773958BAC}" presName="sibTrans" presStyleCnt="0"/>
      <dgm:spPr/>
    </dgm:pt>
    <dgm:pt modelId="{BDF0271F-D7A1-E843-8806-C1028C340656}" type="pres">
      <dgm:prSet presAssocID="{73D1188A-653B-4993-B383-BFB1BEB4E083}" presName="node" presStyleLbl="node1" presStyleIdx="2" presStyleCnt="3">
        <dgm:presLayoutVars>
          <dgm:bulletEnabled val="1"/>
        </dgm:presLayoutVars>
      </dgm:prSet>
      <dgm:spPr/>
    </dgm:pt>
  </dgm:ptLst>
  <dgm:cxnLst>
    <dgm:cxn modelId="{15261510-AE59-AA42-A4F7-AAB309AF5DA0}" type="presOf" srcId="{41424623-5FAC-45D0-9128-5F88498DB40C}" destId="{C5B68F64-44D8-4748-991C-36D958B2058C}" srcOrd="0" destOrd="0" presId="urn:microsoft.com/office/officeart/2005/8/layout/default"/>
    <dgm:cxn modelId="{FBAC862D-8B92-6949-8C5C-42D7F2EFB76D}" type="presOf" srcId="{73D1188A-653B-4993-B383-BFB1BEB4E083}" destId="{BDF0271F-D7A1-E843-8806-C1028C340656}" srcOrd="0" destOrd="0" presId="urn:microsoft.com/office/officeart/2005/8/layout/default"/>
    <dgm:cxn modelId="{AE240034-5351-40E7-9375-7A0095068199}" srcId="{C8508A04-2182-4E68-90DF-27BABCE9D095}" destId="{42570BB0-EDBA-47A7-9EF5-4A480261CA40}" srcOrd="0" destOrd="0" parTransId="{BA8EB880-609C-4D74-B1C4-D9C700DBE222}" sibTransId="{4B22005F-6BB0-427B-B4DC-D9A3F3151A66}"/>
    <dgm:cxn modelId="{180C796F-5291-4C41-9BCF-D157C2EAB324}" type="presOf" srcId="{42570BB0-EDBA-47A7-9EF5-4A480261CA40}" destId="{D0974B51-85ED-8C4C-BB35-1C15602771C1}" srcOrd="0" destOrd="0" presId="urn:microsoft.com/office/officeart/2005/8/layout/default"/>
    <dgm:cxn modelId="{4CE1CBC6-99AC-FC40-B631-714C5578B8CE}" type="presOf" srcId="{C8508A04-2182-4E68-90DF-27BABCE9D095}" destId="{C01DCF57-4818-CB4D-948B-BD3B8B05DA76}" srcOrd="0" destOrd="0" presId="urn:microsoft.com/office/officeart/2005/8/layout/default"/>
    <dgm:cxn modelId="{8C462EC8-BED2-44A1-A40C-0260741FA24E}" srcId="{C8508A04-2182-4E68-90DF-27BABCE9D095}" destId="{41424623-5FAC-45D0-9128-5F88498DB40C}" srcOrd="1" destOrd="0" parTransId="{CFF33E96-2263-420D-A039-18EC9D8F2C32}" sibTransId="{94835EE2-0296-4E01-8964-122773958BAC}"/>
    <dgm:cxn modelId="{31E5F0FD-A601-4154-AE4E-B307835C3677}" srcId="{C8508A04-2182-4E68-90DF-27BABCE9D095}" destId="{73D1188A-653B-4993-B383-BFB1BEB4E083}" srcOrd="2" destOrd="0" parTransId="{ECBC1BA0-1C5A-4504-871A-59983D117BE4}" sibTransId="{060D1215-757C-46B0-89C4-58D95387918A}"/>
    <dgm:cxn modelId="{8F93B054-785B-7444-A6EE-7DAD75FACAD6}" type="presParOf" srcId="{C01DCF57-4818-CB4D-948B-BD3B8B05DA76}" destId="{D0974B51-85ED-8C4C-BB35-1C15602771C1}" srcOrd="0" destOrd="0" presId="urn:microsoft.com/office/officeart/2005/8/layout/default"/>
    <dgm:cxn modelId="{BBCE29F0-9E6C-B545-B3DE-1E6775127BBF}" type="presParOf" srcId="{C01DCF57-4818-CB4D-948B-BD3B8B05DA76}" destId="{B25247A0-6BAF-6C4A-99DF-F60CF97E9AA8}" srcOrd="1" destOrd="0" presId="urn:microsoft.com/office/officeart/2005/8/layout/default"/>
    <dgm:cxn modelId="{7E79D3AC-A4E6-E54E-9874-F1760572E8E5}" type="presParOf" srcId="{C01DCF57-4818-CB4D-948B-BD3B8B05DA76}" destId="{C5B68F64-44D8-4748-991C-36D958B2058C}" srcOrd="2" destOrd="0" presId="urn:microsoft.com/office/officeart/2005/8/layout/default"/>
    <dgm:cxn modelId="{394EFF75-4279-5C4A-8FEF-6D6EE8E48A67}" type="presParOf" srcId="{C01DCF57-4818-CB4D-948B-BD3B8B05DA76}" destId="{74226B7C-7A13-FC40-B8F2-774F4320822C}" srcOrd="3" destOrd="0" presId="urn:microsoft.com/office/officeart/2005/8/layout/default"/>
    <dgm:cxn modelId="{D6B5536D-77AE-4E42-A552-F89D7B9FD527}" type="presParOf" srcId="{C01DCF57-4818-CB4D-948B-BD3B8B05DA76}" destId="{BDF0271F-D7A1-E843-8806-C1028C340656}"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EB5B9E-8325-4FB5-B140-0C885A8280B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C675EF3-33E8-4745-A351-2823FD835CFA}">
      <dgm:prSet/>
      <dgm:spPr/>
      <dgm:t>
        <a:bodyPr/>
        <a:lstStyle/>
        <a:p>
          <a:pPr>
            <a:lnSpc>
              <a:spcPct val="100000"/>
            </a:lnSpc>
          </a:pPr>
          <a:r>
            <a:rPr lang="en-US"/>
            <a:t>Programmatic access to Box folder with PDFs of patient medical history</a:t>
          </a:r>
        </a:p>
      </dgm:t>
    </dgm:pt>
    <dgm:pt modelId="{9AD783E2-25F3-4E16-A3D8-CF81F16DBDC3}" type="parTrans" cxnId="{07D3EB20-8C9E-44F8-BB7D-65A736074C54}">
      <dgm:prSet/>
      <dgm:spPr/>
      <dgm:t>
        <a:bodyPr/>
        <a:lstStyle/>
        <a:p>
          <a:endParaRPr lang="en-US"/>
        </a:p>
      </dgm:t>
    </dgm:pt>
    <dgm:pt modelId="{67C4CD60-A4AC-4C73-8499-0CB9369AB155}" type="sibTrans" cxnId="{07D3EB20-8C9E-44F8-BB7D-65A736074C54}">
      <dgm:prSet/>
      <dgm:spPr/>
      <dgm:t>
        <a:bodyPr/>
        <a:lstStyle/>
        <a:p>
          <a:endParaRPr lang="en-US"/>
        </a:p>
      </dgm:t>
    </dgm:pt>
    <dgm:pt modelId="{FAEB23CA-A735-4B44-A452-C76C1A189F73}">
      <dgm:prSet/>
      <dgm:spPr/>
      <dgm:t>
        <a:bodyPr/>
        <a:lstStyle/>
        <a:p>
          <a:pPr>
            <a:lnSpc>
              <a:spcPct val="100000"/>
            </a:lnSpc>
          </a:pPr>
          <a:r>
            <a:rPr lang="en-US"/>
            <a:t>PDF parsing (early stages)</a:t>
          </a:r>
        </a:p>
      </dgm:t>
    </dgm:pt>
    <dgm:pt modelId="{519E8982-FD12-458E-806C-CC5F1943A6B4}" type="parTrans" cxnId="{F46E3952-EF34-4888-B36B-9E481C759471}">
      <dgm:prSet/>
      <dgm:spPr/>
      <dgm:t>
        <a:bodyPr/>
        <a:lstStyle/>
        <a:p>
          <a:endParaRPr lang="en-US"/>
        </a:p>
      </dgm:t>
    </dgm:pt>
    <dgm:pt modelId="{2040D66A-A457-4F42-AB63-B3168A9DDC00}" type="sibTrans" cxnId="{F46E3952-EF34-4888-B36B-9E481C759471}">
      <dgm:prSet/>
      <dgm:spPr/>
      <dgm:t>
        <a:bodyPr/>
        <a:lstStyle/>
        <a:p>
          <a:endParaRPr lang="en-US"/>
        </a:p>
      </dgm:t>
    </dgm:pt>
    <dgm:pt modelId="{6CD4CE06-66D9-4CC6-93F6-DD7277CDEF78}">
      <dgm:prSet/>
      <dgm:spPr/>
      <dgm:t>
        <a:bodyPr/>
        <a:lstStyle/>
        <a:p>
          <a:pPr>
            <a:lnSpc>
              <a:spcPct val="100000"/>
            </a:lnSpc>
          </a:pPr>
          <a:r>
            <a:rPr lang="en-US"/>
            <a:t>Running LLM</a:t>
          </a:r>
        </a:p>
      </dgm:t>
    </dgm:pt>
    <dgm:pt modelId="{77C76CD4-AAE8-4870-9F39-06BB13B7D07B}" type="parTrans" cxnId="{16E80D69-7B98-48C8-923C-BA2DE4A04B2A}">
      <dgm:prSet/>
      <dgm:spPr/>
      <dgm:t>
        <a:bodyPr/>
        <a:lstStyle/>
        <a:p>
          <a:endParaRPr lang="en-US"/>
        </a:p>
      </dgm:t>
    </dgm:pt>
    <dgm:pt modelId="{6196D127-2C28-4993-ACEA-86E5540EF053}" type="sibTrans" cxnId="{16E80D69-7B98-48C8-923C-BA2DE4A04B2A}">
      <dgm:prSet/>
      <dgm:spPr/>
      <dgm:t>
        <a:bodyPr/>
        <a:lstStyle/>
        <a:p>
          <a:endParaRPr lang="en-US"/>
        </a:p>
      </dgm:t>
    </dgm:pt>
    <dgm:pt modelId="{342E0AFA-BF56-49EE-8D08-9218BE54F34C}">
      <dgm:prSet/>
      <dgm:spPr/>
      <dgm:t>
        <a:bodyPr/>
        <a:lstStyle/>
        <a:p>
          <a:pPr>
            <a:lnSpc>
              <a:spcPct val="100000"/>
            </a:lnSpc>
          </a:pPr>
          <a:endParaRPr lang="en-US"/>
        </a:p>
      </dgm:t>
    </dgm:pt>
    <dgm:pt modelId="{0C3B01A2-EC61-4733-B37A-204027EE94A0}" type="parTrans" cxnId="{73F6A7C2-6003-4F99-A1F6-BCD91AC53209}">
      <dgm:prSet/>
      <dgm:spPr/>
      <dgm:t>
        <a:bodyPr/>
        <a:lstStyle/>
        <a:p>
          <a:endParaRPr lang="en-US"/>
        </a:p>
      </dgm:t>
    </dgm:pt>
    <dgm:pt modelId="{32B6F539-1D48-4D1C-8482-94D6BC55D7E7}" type="sibTrans" cxnId="{73F6A7C2-6003-4F99-A1F6-BCD91AC53209}">
      <dgm:prSet/>
      <dgm:spPr/>
      <dgm:t>
        <a:bodyPr/>
        <a:lstStyle/>
        <a:p>
          <a:endParaRPr lang="en-US"/>
        </a:p>
      </dgm:t>
    </dgm:pt>
    <dgm:pt modelId="{E183022E-4FAE-4561-B387-571E62A28203}" type="pres">
      <dgm:prSet presAssocID="{BBEB5B9E-8325-4FB5-B140-0C885A8280BB}" presName="root" presStyleCnt="0">
        <dgm:presLayoutVars>
          <dgm:dir/>
          <dgm:resizeHandles val="exact"/>
        </dgm:presLayoutVars>
      </dgm:prSet>
      <dgm:spPr/>
    </dgm:pt>
    <dgm:pt modelId="{FED4051E-44AB-4D0B-83AA-957ABAED9D55}" type="pres">
      <dgm:prSet presAssocID="{EC675EF3-33E8-4745-A351-2823FD835CFA}" presName="compNode" presStyleCnt="0"/>
      <dgm:spPr/>
    </dgm:pt>
    <dgm:pt modelId="{660D3F01-02ED-45D8-9596-23B4D95CABAB}" type="pres">
      <dgm:prSet presAssocID="{EC675EF3-33E8-4745-A351-2823FD835CFA}" presName="bgRect" presStyleLbl="bgShp" presStyleIdx="0" presStyleCnt="3"/>
      <dgm:spPr/>
    </dgm:pt>
    <dgm:pt modelId="{4C4CD756-4EE4-411D-A563-D72972DAA2B9}" type="pres">
      <dgm:prSet presAssocID="{EC675EF3-33E8-4745-A351-2823FD835C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Folder"/>
        </a:ext>
      </dgm:extLst>
    </dgm:pt>
    <dgm:pt modelId="{B19D9E6E-4C6A-4010-B9C3-03017BD1E1BD}" type="pres">
      <dgm:prSet presAssocID="{EC675EF3-33E8-4745-A351-2823FD835CFA}" presName="spaceRect" presStyleCnt="0"/>
      <dgm:spPr/>
    </dgm:pt>
    <dgm:pt modelId="{D8985D15-5936-4EE8-8044-79FF2DF4DA44}" type="pres">
      <dgm:prSet presAssocID="{EC675EF3-33E8-4745-A351-2823FD835CFA}" presName="parTx" presStyleLbl="revTx" presStyleIdx="0" presStyleCnt="4">
        <dgm:presLayoutVars>
          <dgm:chMax val="0"/>
          <dgm:chPref val="0"/>
        </dgm:presLayoutVars>
      </dgm:prSet>
      <dgm:spPr/>
    </dgm:pt>
    <dgm:pt modelId="{A6637AF0-926B-4C0E-BB66-581EDB72A172}" type="pres">
      <dgm:prSet presAssocID="{67C4CD60-A4AC-4C73-8499-0CB9369AB155}" presName="sibTrans" presStyleCnt="0"/>
      <dgm:spPr/>
    </dgm:pt>
    <dgm:pt modelId="{66C3E568-BB22-42FC-80A0-6D7F474F0F49}" type="pres">
      <dgm:prSet presAssocID="{FAEB23CA-A735-4B44-A452-C76C1A189F73}" presName="compNode" presStyleCnt="0"/>
      <dgm:spPr/>
    </dgm:pt>
    <dgm:pt modelId="{34ACFB80-D650-46D0-9F31-F0AA280B5519}" type="pres">
      <dgm:prSet presAssocID="{FAEB23CA-A735-4B44-A452-C76C1A189F73}" presName="bgRect" presStyleLbl="bgShp" presStyleIdx="1" presStyleCnt="3"/>
      <dgm:spPr/>
    </dgm:pt>
    <dgm:pt modelId="{AE37CCAC-24A0-4A10-9307-B1F1EA8143E4}" type="pres">
      <dgm:prSet presAssocID="{FAEB23CA-A735-4B44-A452-C76C1A189F7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7DC68942-0E43-472D-8AB8-049FA5B7B2DD}" type="pres">
      <dgm:prSet presAssocID="{FAEB23CA-A735-4B44-A452-C76C1A189F73}" presName="spaceRect" presStyleCnt="0"/>
      <dgm:spPr/>
    </dgm:pt>
    <dgm:pt modelId="{05B4F7D0-656B-4405-BAF1-695E4FE7541E}" type="pres">
      <dgm:prSet presAssocID="{FAEB23CA-A735-4B44-A452-C76C1A189F73}" presName="parTx" presStyleLbl="revTx" presStyleIdx="1" presStyleCnt="4">
        <dgm:presLayoutVars>
          <dgm:chMax val="0"/>
          <dgm:chPref val="0"/>
        </dgm:presLayoutVars>
      </dgm:prSet>
      <dgm:spPr/>
    </dgm:pt>
    <dgm:pt modelId="{187685A7-0764-4B30-83B7-83E07D7402D2}" type="pres">
      <dgm:prSet presAssocID="{2040D66A-A457-4F42-AB63-B3168A9DDC00}" presName="sibTrans" presStyleCnt="0"/>
      <dgm:spPr/>
    </dgm:pt>
    <dgm:pt modelId="{47BAD2D9-1CF7-42AF-99C4-52AB65BA5375}" type="pres">
      <dgm:prSet presAssocID="{6CD4CE06-66D9-4CC6-93F6-DD7277CDEF78}" presName="compNode" presStyleCnt="0"/>
      <dgm:spPr/>
    </dgm:pt>
    <dgm:pt modelId="{6326C2B2-F446-4490-B962-E5FD4F5E4B51}" type="pres">
      <dgm:prSet presAssocID="{6CD4CE06-66D9-4CC6-93F6-DD7277CDEF78}" presName="bgRect" presStyleLbl="bgShp" presStyleIdx="2" presStyleCnt="3"/>
      <dgm:spPr/>
    </dgm:pt>
    <dgm:pt modelId="{87B558F1-13D7-48BF-8B05-37D45581BFFD}" type="pres">
      <dgm:prSet presAssocID="{6CD4CE06-66D9-4CC6-93F6-DD7277CDEF7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n"/>
        </a:ext>
      </dgm:extLst>
    </dgm:pt>
    <dgm:pt modelId="{E4CE5796-988D-40ED-93D9-D5BB73FD0A5F}" type="pres">
      <dgm:prSet presAssocID="{6CD4CE06-66D9-4CC6-93F6-DD7277CDEF78}" presName="spaceRect" presStyleCnt="0"/>
      <dgm:spPr/>
    </dgm:pt>
    <dgm:pt modelId="{556B180E-986D-4E1C-81E0-EEFDCD5CDC94}" type="pres">
      <dgm:prSet presAssocID="{6CD4CE06-66D9-4CC6-93F6-DD7277CDEF78}" presName="parTx" presStyleLbl="revTx" presStyleIdx="2" presStyleCnt="4">
        <dgm:presLayoutVars>
          <dgm:chMax val="0"/>
          <dgm:chPref val="0"/>
        </dgm:presLayoutVars>
      </dgm:prSet>
      <dgm:spPr/>
    </dgm:pt>
    <dgm:pt modelId="{D09C8A4F-67BA-478C-B4DA-78FFEC8028F7}" type="pres">
      <dgm:prSet presAssocID="{6CD4CE06-66D9-4CC6-93F6-DD7277CDEF78}" presName="desTx" presStyleLbl="revTx" presStyleIdx="3" presStyleCnt="4">
        <dgm:presLayoutVars/>
      </dgm:prSet>
      <dgm:spPr/>
    </dgm:pt>
  </dgm:ptLst>
  <dgm:cxnLst>
    <dgm:cxn modelId="{07D3EB20-8C9E-44F8-BB7D-65A736074C54}" srcId="{BBEB5B9E-8325-4FB5-B140-0C885A8280BB}" destId="{EC675EF3-33E8-4745-A351-2823FD835CFA}" srcOrd="0" destOrd="0" parTransId="{9AD783E2-25F3-4E16-A3D8-CF81F16DBDC3}" sibTransId="{67C4CD60-A4AC-4C73-8499-0CB9369AB155}"/>
    <dgm:cxn modelId="{F46E3952-EF34-4888-B36B-9E481C759471}" srcId="{BBEB5B9E-8325-4FB5-B140-0C885A8280BB}" destId="{FAEB23CA-A735-4B44-A452-C76C1A189F73}" srcOrd="1" destOrd="0" parTransId="{519E8982-FD12-458E-806C-CC5F1943A6B4}" sibTransId="{2040D66A-A457-4F42-AB63-B3168A9DDC00}"/>
    <dgm:cxn modelId="{4FFBC862-E57F-0E43-8791-C72C6B49B24D}" type="presOf" srcId="{6CD4CE06-66D9-4CC6-93F6-DD7277CDEF78}" destId="{556B180E-986D-4E1C-81E0-EEFDCD5CDC94}" srcOrd="0" destOrd="0" presId="urn:microsoft.com/office/officeart/2018/2/layout/IconVerticalSolidList"/>
    <dgm:cxn modelId="{16E80D69-7B98-48C8-923C-BA2DE4A04B2A}" srcId="{BBEB5B9E-8325-4FB5-B140-0C885A8280BB}" destId="{6CD4CE06-66D9-4CC6-93F6-DD7277CDEF78}" srcOrd="2" destOrd="0" parTransId="{77C76CD4-AAE8-4870-9F39-06BB13B7D07B}" sibTransId="{6196D127-2C28-4993-ACEA-86E5540EF053}"/>
    <dgm:cxn modelId="{E21A547E-6C67-0547-966A-121D575F9086}" type="presOf" srcId="{BBEB5B9E-8325-4FB5-B140-0C885A8280BB}" destId="{E183022E-4FAE-4561-B387-571E62A28203}" srcOrd="0" destOrd="0" presId="urn:microsoft.com/office/officeart/2018/2/layout/IconVerticalSolidList"/>
    <dgm:cxn modelId="{3A5132A2-E06F-B242-A76A-0D565F7C7983}" type="presOf" srcId="{FAEB23CA-A735-4B44-A452-C76C1A189F73}" destId="{05B4F7D0-656B-4405-BAF1-695E4FE7541E}" srcOrd="0" destOrd="0" presId="urn:microsoft.com/office/officeart/2018/2/layout/IconVerticalSolidList"/>
    <dgm:cxn modelId="{6DD22AA6-FCD0-AC44-BBE9-83A9431D47AA}" type="presOf" srcId="{EC675EF3-33E8-4745-A351-2823FD835CFA}" destId="{D8985D15-5936-4EE8-8044-79FF2DF4DA44}" srcOrd="0" destOrd="0" presId="urn:microsoft.com/office/officeart/2018/2/layout/IconVerticalSolidList"/>
    <dgm:cxn modelId="{73F6A7C2-6003-4F99-A1F6-BCD91AC53209}" srcId="{6CD4CE06-66D9-4CC6-93F6-DD7277CDEF78}" destId="{342E0AFA-BF56-49EE-8D08-9218BE54F34C}" srcOrd="0" destOrd="0" parTransId="{0C3B01A2-EC61-4733-B37A-204027EE94A0}" sibTransId="{32B6F539-1D48-4D1C-8482-94D6BC55D7E7}"/>
    <dgm:cxn modelId="{393334CF-A4F9-3649-AD7D-673E9F8E723B}" type="presOf" srcId="{342E0AFA-BF56-49EE-8D08-9218BE54F34C}" destId="{D09C8A4F-67BA-478C-B4DA-78FFEC8028F7}" srcOrd="0" destOrd="0" presId="urn:microsoft.com/office/officeart/2018/2/layout/IconVerticalSolidList"/>
    <dgm:cxn modelId="{A1022B37-B333-F84C-83F8-BD5DCB6B9BA5}" type="presParOf" srcId="{E183022E-4FAE-4561-B387-571E62A28203}" destId="{FED4051E-44AB-4D0B-83AA-957ABAED9D55}" srcOrd="0" destOrd="0" presId="urn:microsoft.com/office/officeart/2018/2/layout/IconVerticalSolidList"/>
    <dgm:cxn modelId="{B38F35F9-5DCC-3E4B-A7C9-C859AD4AFD62}" type="presParOf" srcId="{FED4051E-44AB-4D0B-83AA-957ABAED9D55}" destId="{660D3F01-02ED-45D8-9596-23B4D95CABAB}" srcOrd="0" destOrd="0" presId="urn:microsoft.com/office/officeart/2018/2/layout/IconVerticalSolidList"/>
    <dgm:cxn modelId="{6F0C686E-0BD7-4248-8EA8-67DA4F210AC0}" type="presParOf" srcId="{FED4051E-44AB-4D0B-83AA-957ABAED9D55}" destId="{4C4CD756-4EE4-411D-A563-D72972DAA2B9}" srcOrd="1" destOrd="0" presId="urn:microsoft.com/office/officeart/2018/2/layout/IconVerticalSolidList"/>
    <dgm:cxn modelId="{358E49D2-8D5A-1447-938C-3D7672B32003}" type="presParOf" srcId="{FED4051E-44AB-4D0B-83AA-957ABAED9D55}" destId="{B19D9E6E-4C6A-4010-B9C3-03017BD1E1BD}" srcOrd="2" destOrd="0" presId="urn:microsoft.com/office/officeart/2018/2/layout/IconVerticalSolidList"/>
    <dgm:cxn modelId="{F5D6FE08-5519-E941-AF14-93351D0E0631}" type="presParOf" srcId="{FED4051E-44AB-4D0B-83AA-957ABAED9D55}" destId="{D8985D15-5936-4EE8-8044-79FF2DF4DA44}" srcOrd="3" destOrd="0" presId="urn:microsoft.com/office/officeart/2018/2/layout/IconVerticalSolidList"/>
    <dgm:cxn modelId="{87244443-99D9-1D43-B12C-B1263466347B}" type="presParOf" srcId="{E183022E-4FAE-4561-B387-571E62A28203}" destId="{A6637AF0-926B-4C0E-BB66-581EDB72A172}" srcOrd="1" destOrd="0" presId="urn:microsoft.com/office/officeart/2018/2/layout/IconVerticalSolidList"/>
    <dgm:cxn modelId="{3EE86AF3-1F2F-6A45-A58C-D0B6C385F6B7}" type="presParOf" srcId="{E183022E-4FAE-4561-B387-571E62A28203}" destId="{66C3E568-BB22-42FC-80A0-6D7F474F0F49}" srcOrd="2" destOrd="0" presId="urn:microsoft.com/office/officeart/2018/2/layout/IconVerticalSolidList"/>
    <dgm:cxn modelId="{01ABD858-6200-714B-901C-551BB07AC7FA}" type="presParOf" srcId="{66C3E568-BB22-42FC-80A0-6D7F474F0F49}" destId="{34ACFB80-D650-46D0-9F31-F0AA280B5519}" srcOrd="0" destOrd="0" presId="urn:microsoft.com/office/officeart/2018/2/layout/IconVerticalSolidList"/>
    <dgm:cxn modelId="{8D862681-8CF0-194A-B4E8-8BE4869C4A56}" type="presParOf" srcId="{66C3E568-BB22-42FC-80A0-6D7F474F0F49}" destId="{AE37CCAC-24A0-4A10-9307-B1F1EA8143E4}" srcOrd="1" destOrd="0" presId="urn:microsoft.com/office/officeart/2018/2/layout/IconVerticalSolidList"/>
    <dgm:cxn modelId="{74EFE1B8-5AAD-9140-97FD-8433873CD1D2}" type="presParOf" srcId="{66C3E568-BB22-42FC-80A0-6D7F474F0F49}" destId="{7DC68942-0E43-472D-8AB8-049FA5B7B2DD}" srcOrd="2" destOrd="0" presId="urn:microsoft.com/office/officeart/2018/2/layout/IconVerticalSolidList"/>
    <dgm:cxn modelId="{8DA041C3-1075-AF47-A712-9DA20E77AEB5}" type="presParOf" srcId="{66C3E568-BB22-42FC-80A0-6D7F474F0F49}" destId="{05B4F7D0-656B-4405-BAF1-695E4FE7541E}" srcOrd="3" destOrd="0" presId="urn:microsoft.com/office/officeart/2018/2/layout/IconVerticalSolidList"/>
    <dgm:cxn modelId="{1FD2CC00-7D14-034A-8DF6-6FFB98000975}" type="presParOf" srcId="{E183022E-4FAE-4561-B387-571E62A28203}" destId="{187685A7-0764-4B30-83B7-83E07D7402D2}" srcOrd="3" destOrd="0" presId="urn:microsoft.com/office/officeart/2018/2/layout/IconVerticalSolidList"/>
    <dgm:cxn modelId="{E626207B-FB4C-2546-B6C9-A8D34D20026F}" type="presParOf" srcId="{E183022E-4FAE-4561-B387-571E62A28203}" destId="{47BAD2D9-1CF7-42AF-99C4-52AB65BA5375}" srcOrd="4" destOrd="0" presId="urn:microsoft.com/office/officeart/2018/2/layout/IconVerticalSolidList"/>
    <dgm:cxn modelId="{C06B38BB-5C16-CC4D-BB52-536BB5CAA436}" type="presParOf" srcId="{47BAD2D9-1CF7-42AF-99C4-52AB65BA5375}" destId="{6326C2B2-F446-4490-B962-E5FD4F5E4B51}" srcOrd="0" destOrd="0" presId="urn:microsoft.com/office/officeart/2018/2/layout/IconVerticalSolidList"/>
    <dgm:cxn modelId="{F5E3E63D-27C0-F442-87F2-2F8CCF352DB6}" type="presParOf" srcId="{47BAD2D9-1CF7-42AF-99C4-52AB65BA5375}" destId="{87B558F1-13D7-48BF-8B05-37D45581BFFD}" srcOrd="1" destOrd="0" presId="urn:microsoft.com/office/officeart/2018/2/layout/IconVerticalSolidList"/>
    <dgm:cxn modelId="{176EF66C-3D6F-204D-BCA5-8D1A384F2654}" type="presParOf" srcId="{47BAD2D9-1CF7-42AF-99C4-52AB65BA5375}" destId="{E4CE5796-988D-40ED-93D9-D5BB73FD0A5F}" srcOrd="2" destOrd="0" presId="urn:microsoft.com/office/officeart/2018/2/layout/IconVerticalSolidList"/>
    <dgm:cxn modelId="{6ADF85A6-1B19-0C49-A9ED-E20C6EC1C5D2}" type="presParOf" srcId="{47BAD2D9-1CF7-42AF-99C4-52AB65BA5375}" destId="{556B180E-986D-4E1C-81E0-EEFDCD5CDC94}" srcOrd="3" destOrd="0" presId="urn:microsoft.com/office/officeart/2018/2/layout/IconVerticalSolidList"/>
    <dgm:cxn modelId="{E9D3D5A5-B94F-9945-89F6-94CC3A421B98}" type="presParOf" srcId="{47BAD2D9-1CF7-42AF-99C4-52AB65BA5375}" destId="{D09C8A4F-67BA-478C-B4DA-78FFEC8028F7}"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98A98C-0DF0-4B03-BBC9-6085D4DC6F6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43F2371-1ACE-4F89-B532-59EBB20D43FF}">
      <dgm:prSet/>
      <dgm:spPr/>
      <dgm:t>
        <a:bodyPr/>
        <a:lstStyle/>
        <a:p>
          <a:r>
            <a:rPr lang="en-US"/>
            <a:t>Replicate OFR question/answering on entire patient history</a:t>
          </a:r>
        </a:p>
      </dgm:t>
    </dgm:pt>
    <dgm:pt modelId="{5A9E6C3F-C8CD-4690-A7E3-55A0AF9EBC67}" type="parTrans" cxnId="{6F5CFF5F-12D0-4FD3-8099-106576BF1F09}">
      <dgm:prSet/>
      <dgm:spPr/>
      <dgm:t>
        <a:bodyPr/>
        <a:lstStyle/>
        <a:p>
          <a:endParaRPr lang="en-US"/>
        </a:p>
      </dgm:t>
    </dgm:pt>
    <dgm:pt modelId="{D799DEF0-0C24-4E7C-AC97-E3A426F12D45}" type="sibTrans" cxnId="{6F5CFF5F-12D0-4FD3-8099-106576BF1F09}">
      <dgm:prSet/>
      <dgm:spPr/>
      <dgm:t>
        <a:bodyPr/>
        <a:lstStyle/>
        <a:p>
          <a:endParaRPr lang="en-US"/>
        </a:p>
      </dgm:t>
    </dgm:pt>
    <dgm:pt modelId="{B440492B-275B-4510-AD96-5A3660BFB26D}">
      <dgm:prSet/>
      <dgm:spPr/>
      <dgm:t>
        <a:bodyPr/>
        <a:lstStyle/>
        <a:p>
          <a:r>
            <a:rPr lang="en-US"/>
            <a:t>Replicate OFR question/answering on per-encounter basis to develop patient timeline</a:t>
          </a:r>
        </a:p>
      </dgm:t>
    </dgm:pt>
    <dgm:pt modelId="{E319A28C-9116-4CC7-976B-55D28619D3AA}" type="parTrans" cxnId="{6EA7EFD9-DC84-4A07-BF2B-81F0533A2B53}">
      <dgm:prSet/>
      <dgm:spPr/>
      <dgm:t>
        <a:bodyPr/>
        <a:lstStyle/>
        <a:p>
          <a:endParaRPr lang="en-US"/>
        </a:p>
      </dgm:t>
    </dgm:pt>
    <dgm:pt modelId="{C5EC9203-DFFC-4B95-A9C5-633CA0DA6BC3}" type="sibTrans" cxnId="{6EA7EFD9-DC84-4A07-BF2B-81F0533A2B53}">
      <dgm:prSet/>
      <dgm:spPr/>
      <dgm:t>
        <a:bodyPr/>
        <a:lstStyle/>
        <a:p>
          <a:endParaRPr lang="en-US"/>
        </a:p>
      </dgm:t>
    </dgm:pt>
    <dgm:pt modelId="{26E7C39C-6977-4775-8E22-40274D9B19E1}">
      <dgm:prSet/>
      <dgm:spPr/>
      <dgm:t>
        <a:bodyPr/>
        <a:lstStyle/>
        <a:p>
          <a:r>
            <a:rPr lang="en-US"/>
            <a:t>Focus on extracting:</a:t>
          </a:r>
        </a:p>
      </dgm:t>
    </dgm:pt>
    <dgm:pt modelId="{346421F2-AAC4-4DB9-94F2-5908827F191F}" type="parTrans" cxnId="{8A7A2757-F6F0-4BF1-A483-C187B49A2CEC}">
      <dgm:prSet/>
      <dgm:spPr/>
      <dgm:t>
        <a:bodyPr/>
        <a:lstStyle/>
        <a:p>
          <a:endParaRPr lang="en-US"/>
        </a:p>
      </dgm:t>
    </dgm:pt>
    <dgm:pt modelId="{CC60B66E-A04A-4216-BE37-D8DD212893A0}" type="sibTrans" cxnId="{8A7A2757-F6F0-4BF1-A483-C187B49A2CEC}">
      <dgm:prSet/>
      <dgm:spPr/>
      <dgm:t>
        <a:bodyPr/>
        <a:lstStyle/>
        <a:p>
          <a:endParaRPr lang="en-US"/>
        </a:p>
      </dgm:t>
    </dgm:pt>
    <dgm:pt modelId="{891FB4C1-C7A6-4179-884C-9B41528A12C7}">
      <dgm:prSet/>
      <dgm:spPr/>
      <dgm:t>
        <a:bodyPr/>
        <a:lstStyle/>
        <a:p>
          <a:r>
            <a:rPr lang="en-US"/>
            <a:t>Toxicology and drug data</a:t>
          </a:r>
        </a:p>
      </dgm:t>
    </dgm:pt>
    <dgm:pt modelId="{E2CB534D-89F6-4C1B-B914-3AC7B231851B}" type="parTrans" cxnId="{2C8B25D5-009F-4CE2-853A-E8AD85F31B85}">
      <dgm:prSet/>
      <dgm:spPr/>
      <dgm:t>
        <a:bodyPr/>
        <a:lstStyle/>
        <a:p>
          <a:endParaRPr lang="en-US"/>
        </a:p>
      </dgm:t>
    </dgm:pt>
    <dgm:pt modelId="{D472D645-7D3E-4253-841F-7F675AD959FC}" type="sibTrans" cxnId="{2C8B25D5-009F-4CE2-853A-E8AD85F31B85}">
      <dgm:prSet/>
      <dgm:spPr/>
      <dgm:t>
        <a:bodyPr/>
        <a:lstStyle/>
        <a:p>
          <a:endParaRPr lang="en-US"/>
        </a:p>
      </dgm:t>
    </dgm:pt>
    <dgm:pt modelId="{AA623C78-E7CD-443A-A5AD-04D33EAB210D}">
      <dgm:prSet/>
      <dgm:spPr/>
      <dgm:t>
        <a:bodyPr/>
        <a:lstStyle/>
        <a:p>
          <a:r>
            <a:rPr lang="en-US" dirty="0"/>
            <a:t>Mental health</a:t>
          </a:r>
        </a:p>
      </dgm:t>
    </dgm:pt>
    <dgm:pt modelId="{F790852F-B159-4088-9D81-D99149ABDCC5}" type="parTrans" cxnId="{80D0321F-17C7-4B2D-8592-670E82F69903}">
      <dgm:prSet/>
      <dgm:spPr/>
      <dgm:t>
        <a:bodyPr/>
        <a:lstStyle/>
        <a:p>
          <a:endParaRPr lang="en-US"/>
        </a:p>
      </dgm:t>
    </dgm:pt>
    <dgm:pt modelId="{8335D09E-DC40-4980-99ED-AE84748D2D81}" type="sibTrans" cxnId="{80D0321F-17C7-4B2D-8592-670E82F69903}">
      <dgm:prSet/>
      <dgm:spPr/>
      <dgm:t>
        <a:bodyPr/>
        <a:lstStyle/>
        <a:p>
          <a:endParaRPr lang="en-US"/>
        </a:p>
      </dgm:t>
    </dgm:pt>
    <dgm:pt modelId="{0BA33255-6F18-43CD-9515-E90FEB11DBCB}">
      <dgm:prSet/>
      <dgm:spPr/>
      <dgm:t>
        <a:bodyPr/>
        <a:lstStyle/>
        <a:p>
          <a:r>
            <a:rPr lang="en-US"/>
            <a:t>Social health and history</a:t>
          </a:r>
        </a:p>
      </dgm:t>
    </dgm:pt>
    <dgm:pt modelId="{DD340E14-9D02-4418-8704-5EBF2C2A24B7}" type="parTrans" cxnId="{EA88D039-2F19-41AD-B318-A3AF8F6E4A27}">
      <dgm:prSet/>
      <dgm:spPr/>
      <dgm:t>
        <a:bodyPr/>
        <a:lstStyle/>
        <a:p>
          <a:endParaRPr lang="en-US"/>
        </a:p>
      </dgm:t>
    </dgm:pt>
    <dgm:pt modelId="{846042B9-0E1F-41D3-B049-87F42AA33CAD}" type="sibTrans" cxnId="{EA88D039-2F19-41AD-B318-A3AF8F6E4A27}">
      <dgm:prSet/>
      <dgm:spPr/>
      <dgm:t>
        <a:bodyPr/>
        <a:lstStyle/>
        <a:p>
          <a:endParaRPr lang="en-US"/>
        </a:p>
      </dgm:t>
    </dgm:pt>
    <dgm:pt modelId="{D4EE6067-2CD4-4BB7-A0D5-BF15B1156141}">
      <dgm:prSet/>
      <dgm:spPr/>
      <dgm:t>
        <a:bodyPr/>
        <a:lstStyle/>
        <a:p>
          <a:r>
            <a:rPr lang="en-US"/>
            <a:t>Relevant dates and hospital systems</a:t>
          </a:r>
        </a:p>
      </dgm:t>
    </dgm:pt>
    <dgm:pt modelId="{5B1DB3DF-3346-4AF1-858E-2D949EA973B6}" type="parTrans" cxnId="{468B31C8-9B44-4701-B1E3-9D749D200239}">
      <dgm:prSet/>
      <dgm:spPr/>
      <dgm:t>
        <a:bodyPr/>
        <a:lstStyle/>
        <a:p>
          <a:endParaRPr lang="en-US"/>
        </a:p>
      </dgm:t>
    </dgm:pt>
    <dgm:pt modelId="{EA2E6165-245E-4954-A482-79AB2C77A17A}" type="sibTrans" cxnId="{468B31C8-9B44-4701-B1E3-9D749D200239}">
      <dgm:prSet/>
      <dgm:spPr/>
      <dgm:t>
        <a:bodyPr/>
        <a:lstStyle/>
        <a:p>
          <a:endParaRPr lang="en-US"/>
        </a:p>
      </dgm:t>
    </dgm:pt>
    <dgm:pt modelId="{D5AE0F4F-6E32-4D2E-9C64-CCFD086446C5}" type="pres">
      <dgm:prSet presAssocID="{DB98A98C-0DF0-4B03-BBC9-6085D4DC6F6A}" presName="root" presStyleCnt="0">
        <dgm:presLayoutVars>
          <dgm:dir/>
          <dgm:resizeHandles val="exact"/>
        </dgm:presLayoutVars>
      </dgm:prSet>
      <dgm:spPr/>
    </dgm:pt>
    <dgm:pt modelId="{C513B22C-E0F6-471C-8E3C-8BBF8B773469}" type="pres">
      <dgm:prSet presAssocID="{F43F2371-1ACE-4F89-B532-59EBB20D43FF}" presName="compNode" presStyleCnt="0"/>
      <dgm:spPr/>
    </dgm:pt>
    <dgm:pt modelId="{DAE7077B-3DE4-4E38-8242-69EAFAC8311E}" type="pres">
      <dgm:prSet presAssocID="{F43F2371-1ACE-4F89-B532-59EBB20D43FF}" presName="bgRect" presStyleLbl="bgShp" presStyleIdx="0" presStyleCnt="3"/>
      <dgm:spPr/>
    </dgm:pt>
    <dgm:pt modelId="{DC597ECB-6291-412D-B403-7DA3446D97BC}" type="pres">
      <dgm:prSet presAssocID="{F43F2371-1ACE-4F89-B532-59EBB20D43F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6C149BE-FDBF-4EBF-A072-47BC31CDD57D}" type="pres">
      <dgm:prSet presAssocID="{F43F2371-1ACE-4F89-B532-59EBB20D43FF}" presName="spaceRect" presStyleCnt="0"/>
      <dgm:spPr/>
    </dgm:pt>
    <dgm:pt modelId="{A7076A3F-614C-4D4A-BBE9-08F2FF043391}" type="pres">
      <dgm:prSet presAssocID="{F43F2371-1ACE-4F89-B532-59EBB20D43FF}" presName="parTx" presStyleLbl="revTx" presStyleIdx="0" presStyleCnt="4">
        <dgm:presLayoutVars>
          <dgm:chMax val="0"/>
          <dgm:chPref val="0"/>
        </dgm:presLayoutVars>
      </dgm:prSet>
      <dgm:spPr/>
    </dgm:pt>
    <dgm:pt modelId="{D6A0A1BA-D608-4841-93C7-4A180379AE59}" type="pres">
      <dgm:prSet presAssocID="{D799DEF0-0C24-4E7C-AC97-E3A426F12D45}" presName="sibTrans" presStyleCnt="0"/>
      <dgm:spPr/>
    </dgm:pt>
    <dgm:pt modelId="{49AA1783-0970-4C0B-8911-C418CE6FB25B}" type="pres">
      <dgm:prSet presAssocID="{B440492B-275B-4510-AD96-5A3660BFB26D}" presName="compNode" presStyleCnt="0"/>
      <dgm:spPr/>
    </dgm:pt>
    <dgm:pt modelId="{0ED7F75A-30FA-437B-9787-5E1C835096D1}" type="pres">
      <dgm:prSet presAssocID="{B440492B-275B-4510-AD96-5A3660BFB26D}" presName="bgRect" presStyleLbl="bgShp" presStyleIdx="1" presStyleCnt="3"/>
      <dgm:spPr/>
    </dgm:pt>
    <dgm:pt modelId="{996F0A31-2A5F-4A81-A122-520CFADB1D8B}" type="pres">
      <dgm:prSet presAssocID="{B440492B-275B-4510-AD96-5A3660BFB2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57AAF9E6-B262-4226-A75E-09747E39C6A5}" type="pres">
      <dgm:prSet presAssocID="{B440492B-275B-4510-AD96-5A3660BFB26D}" presName="spaceRect" presStyleCnt="0"/>
      <dgm:spPr/>
    </dgm:pt>
    <dgm:pt modelId="{B229F8C2-EDCA-4442-BEEF-BCFEBC79EE15}" type="pres">
      <dgm:prSet presAssocID="{B440492B-275B-4510-AD96-5A3660BFB26D}" presName="parTx" presStyleLbl="revTx" presStyleIdx="1" presStyleCnt="4">
        <dgm:presLayoutVars>
          <dgm:chMax val="0"/>
          <dgm:chPref val="0"/>
        </dgm:presLayoutVars>
      </dgm:prSet>
      <dgm:spPr/>
    </dgm:pt>
    <dgm:pt modelId="{0C8520EC-C2EE-4B83-A877-D2CAC21C1FB7}" type="pres">
      <dgm:prSet presAssocID="{C5EC9203-DFFC-4B95-A9C5-633CA0DA6BC3}" presName="sibTrans" presStyleCnt="0"/>
      <dgm:spPr/>
    </dgm:pt>
    <dgm:pt modelId="{5CEAC9F1-352A-47A1-85FB-7E1EE5362BD4}" type="pres">
      <dgm:prSet presAssocID="{26E7C39C-6977-4775-8E22-40274D9B19E1}" presName="compNode" presStyleCnt="0"/>
      <dgm:spPr/>
    </dgm:pt>
    <dgm:pt modelId="{20F5B587-FDCA-46CC-B809-1298F5CF6F38}" type="pres">
      <dgm:prSet presAssocID="{26E7C39C-6977-4775-8E22-40274D9B19E1}" presName="bgRect" presStyleLbl="bgShp" presStyleIdx="2" presStyleCnt="3"/>
      <dgm:spPr/>
    </dgm:pt>
    <dgm:pt modelId="{5D78554D-DE39-4573-88FC-905E20C61B18}" type="pres">
      <dgm:prSet presAssocID="{26E7C39C-6977-4775-8E22-40274D9B19E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475856A8-C04B-4A11-91D6-5A3AA41E9D95}" type="pres">
      <dgm:prSet presAssocID="{26E7C39C-6977-4775-8E22-40274D9B19E1}" presName="spaceRect" presStyleCnt="0"/>
      <dgm:spPr/>
    </dgm:pt>
    <dgm:pt modelId="{0870A0E1-41D4-4B9D-B017-225C1A2D648A}" type="pres">
      <dgm:prSet presAssocID="{26E7C39C-6977-4775-8E22-40274D9B19E1}" presName="parTx" presStyleLbl="revTx" presStyleIdx="2" presStyleCnt="4">
        <dgm:presLayoutVars>
          <dgm:chMax val="0"/>
          <dgm:chPref val="0"/>
        </dgm:presLayoutVars>
      </dgm:prSet>
      <dgm:spPr/>
    </dgm:pt>
    <dgm:pt modelId="{D11DD641-2223-437A-8D8F-59CF560AE254}" type="pres">
      <dgm:prSet presAssocID="{26E7C39C-6977-4775-8E22-40274D9B19E1}" presName="desTx" presStyleLbl="revTx" presStyleIdx="3" presStyleCnt="4" custScaleX="169175" custLinFactNeighborX="-37284" custLinFactNeighborY="580">
        <dgm:presLayoutVars/>
      </dgm:prSet>
      <dgm:spPr/>
    </dgm:pt>
  </dgm:ptLst>
  <dgm:cxnLst>
    <dgm:cxn modelId="{47FB2403-D5B4-40BD-ACF7-18CDFE657214}" type="presOf" srcId="{B440492B-275B-4510-AD96-5A3660BFB26D}" destId="{B229F8C2-EDCA-4442-BEEF-BCFEBC79EE15}" srcOrd="0" destOrd="0" presId="urn:microsoft.com/office/officeart/2018/2/layout/IconVerticalSolidList"/>
    <dgm:cxn modelId="{230EB311-3675-411F-BB48-3EE156908AB1}" type="presOf" srcId="{D4EE6067-2CD4-4BB7-A0D5-BF15B1156141}" destId="{D11DD641-2223-437A-8D8F-59CF560AE254}" srcOrd="0" destOrd="3" presId="urn:microsoft.com/office/officeart/2018/2/layout/IconVerticalSolidList"/>
    <dgm:cxn modelId="{80D0321F-17C7-4B2D-8592-670E82F69903}" srcId="{26E7C39C-6977-4775-8E22-40274D9B19E1}" destId="{AA623C78-E7CD-443A-A5AD-04D33EAB210D}" srcOrd="1" destOrd="0" parTransId="{F790852F-B159-4088-9D81-D99149ABDCC5}" sibTransId="{8335D09E-DC40-4980-99ED-AE84748D2D81}"/>
    <dgm:cxn modelId="{F823DA38-570A-4E19-AB71-7FE0214AB512}" type="presOf" srcId="{891FB4C1-C7A6-4179-884C-9B41528A12C7}" destId="{D11DD641-2223-437A-8D8F-59CF560AE254}" srcOrd="0" destOrd="0" presId="urn:microsoft.com/office/officeart/2018/2/layout/IconVerticalSolidList"/>
    <dgm:cxn modelId="{EA88D039-2F19-41AD-B318-A3AF8F6E4A27}" srcId="{26E7C39C-6977-4775-8E22-40274D9B19E1}" destId="{0BA33255-6F18-43CD-9515-E90FEB11DBCB}" srcOrd="2" destOrd="0" parTransId="{DD340E14-9D02-4418-8704-5EBF2C2A24B7}" sibTransId="{846042B9-0E1F-41D3-B049-87F42AA33CAD}"/>
    <dgm:cxn modelId="{A5ECFA3F-EC89-4B54-8492-9CD059B012E6}" type="presOf" srcId="{26E7C39C-6977-4775-8E22-40274D9B19E1}" destId="{0870A0E1-41D4-4B9D-B017-225C1A2D648A}" srcOrd="0" destOrd="0" presId="urn:microsoft.com/office/officeart/2018/2/layout/IconVerticalSolidList"/>
    <dgm:cxn modelId="{8A7A2757-F6F0-4BF1-A483-C187B49A2CEC}" srcId="{DB98A98C-0DF0-4B03-BBC9-6085D4DC6F6A}" destId="{26E7C39C-6977-4775-8E22-40274D9B19E1}" srcOrd="2" destOrd="0" parTransId="{346421F2-AAC4-4DB9-94F2-5908827F191F}" sibTransId="{CC60B66E-A04A-4216-BE37-D8DD212893A0}"/>
    <dgm:cxn modelId="{CEC6265E-2276-427C-9559-02B9870E275E}" type="presOf" srcId="{F43F2371-1ACE-4F89-B532-59EBB20D43FF}" destId="{A7076A3F-614C-4D4A-BBE9-08F2FF043391}" srcOrd="0" destOrd="0" presId="urn:microsoft.com/office/officeart/2018/2/layout/IconVerticalSolidList"/>
    <dgm:cxn modelId="{6F5CFF5F-12D0-4FD3-8099-106576BF1F09}" srcId="{DB98A98C-0DF0-4B03-BBC9-6085D4DC6F6A}" destId="{F43F2371-1ACE-4F89-B532-59EBB20D43FF}" srcOrd="0" destOrd="0" parTransId="{5A9E6C3F-C8CD-4690-A7E3-55A0AF9EBC67}" sibTransId="{D799DEF0-0C24-4E7C-AC97-E3A426F12D45}"/>
    <dgm:cxn modelId="{647CF99F-815E-4128-9184-6D3C55482A22}" type="presOf" srcId="{DB98A98C-0DF0-4B03-BBC9-6085D4DC6F6A}" destId="{D5AE0F4F-6E32-4D2E-9C64-CCFD086446C5}" srcOrd="0" destOrd="0" presId="urn:microsoft.com/office/officeart/2018/2/layout/IconVerticalSolidList"/>
    <dgm:cxn modelId="{468B31C8-9B44-4701-B1E3-9D749D200239}" srcId="{26E7C39C-6977-4775-8E22-40274D9B19E1}" destId="{D4EE6067-2CD4-4BB7-A0D5-BF15B1156141}" srcOrd="3" destOrd="0" parTransId="{5B1DB3DF-3346-4AF1-858E-2D949EA973B6}" sibTransId="{EA2E6165-245E-4954-A482-79AB2C77A17A}"/>
    <dgm:cxn modelId="{8010E1D1-B85A-418A-A40D-80329EFA8DCD}" type="presOf" srcId="{0BA33255-6F18-43CD-9515-E90FEB11DBCB}" destId="{D11DD641-2223-437A-8D8F-59CF560AE254}" srcOrd="0" destOrd="2" presId="urn:microsoft.com/office/officeart/2018/2/layout/IconVerticalSolidList"/>
    <dgm:cxn modelId="{2C8B25D5-009F-4CE2-853A-E8AD85F31B85}" srcId="{26E7C39C-6977-4775-8E22-40274D9B19E1}" destId="{891FB4C1-C7A6-4179-884C-9B41528A12C7}" srcOrd="0" destOrd="0" parTransId="{E2CB534D-89F6-4C1B-B914-3AC7B231851B}" sibTransId="{D472D645-7D3E-4253-841F-7F675AD959FC}"/>
    <dgm:cxn modelId="{6EA7EFD9-DC84-4A07-BF2B-81F0533A2B53}" srcId="{DB98A98C-0DF0-4B03-BBC9-6085D4DC6F6A}" destId="{B440492B-275B-4510-AD96-5A3660BFB26D}" srcOrd="1" destOrd="0" parTransId="{E319A28C-9116-4CC7-976B-55D28619D3AA}" sibTransId="{C5EC9203-DFFC-4B95-A9C5-633CA0DA6BC3}"/>
    <dgm:cxn modelId="{19796FF4-2EC6-4FAE-8186-ACF90313B7C2}" type="presOf" srcId="{AA623C78-E7CD-443A-A5AD-04D33EAB210D}" destId="{D11DD641-2223-437A-8D8F-59CF560AE254}" srcOrd="0" destOrd="1" presId="urn:microsoft.com/office/officeart/2018/2/layout/IconVerticalSolidList"/>
    <dgm:cxn modelId="{A1F0C84D-8B93-4A26-AA93-F71069309761}" type="presParOf" srcId="{D5AE0F4F-6E32-4D2E-9C64-CCFD086446C5}" destId="{C513B22C-E0F6-471C-8E3C-8BBF8B773469}" srcOrd="0" destOrd="0" presId="urn:microsoft.com/office/officeart/2018/2/layout/IconVerticalSolidList"/>
    <dgm:cxn modelId="{31AFD36E-E903-4D65-932D-460033C16BBD}" type="presParOf" srcId="{C513B22C-E0F6-471C-8E3C-8BBF8B773469}" destId="{DAE7077B-3DE4-4E38-8242-69EAFAC8311E}" srcOrd="0" destOrd="0" presId="urn:microsoft.com/office/officeart/2018/2/layout/IconVerticalSolidList"/>
    <dgm:cxn modelId="{FD2BBB0E-F662-4A3A-9CFC-4BA7A55587EC}" type="presParOf" srcId="{C513B22C-E0F6-471C-8E3C-8BBF8B773469}" destId="{DC597ECB-6291-412D-B403-7DA3446D97BC}" srcOrd="1" destOrd="0" presId="urn:microsoft.com/office/officeart/2018/2/layout/IconVerticalSolidList"/>
    <dgm:cxn modelId="{B66A4BB5-F7BE-4C6F-80D7-BA334413FA64}" type="presParOf" srcId="{C513B22C-E0F6-471C-8E3C-8BBF8B773469}" destId="{D6C149BE-FDBF-4EBF-A072-47BC31CDD57D}" srcOrd="2" destOrd="0" presId="urn:microsoft.com/office/officeart/2018/2/layout/IconVerticalSolidList"/>
    <dgm:cxn modelId="{5570F544-C605-4E2D-9A1C-C4D0C41F647F}" type="presParOf" srcId="{C513B22C-E0F6-471C-8E3C-8BBF8B773469}" destId="{A7076A3F-614C-4D4A-BBE9-08F2FF043391}" srcOrd="3" destOrd="0" presId="urn:microsoft.com/office/officeart/2018/2/layout/IconVerticalSolidList"/>
    <dgm:cxn modelId="{5C98813F-5B40-4A9F-A387-BB6F37E2EF3D}" type="presParOf" srcId="{D5AE0F4F-6E32-4D2E-9C64-CCFD086446C5}" destId="{D6A0A1BA-D608-4841-93C7-4A180379AE59}" srcOrd="1" destOrd="0" presId="urn:microsoft.com/office/officeart/2018/2/layout/IconVerticalSolidList"/>
    <dgm:cxn modelId="{16F6600B-69CC-4612-8D5E-E594A5375085}" type="presParOf" srcId="{D5AE0F4F-6E32-4D2E-9C64-CCFD086446C5}" destId="{49AA1783-0970-4C0B-8911-C418CE6FB25B}" srcOrd="2" destOrd="0" presId="urn:microsoft.com/office/officeart/2018/2/layout/IconVerticalSolidList"/>
    <dgm:cxn modelId="{ED0BC291-48BF-4ADC-801D-D01957C9394C}" type="presParOf" srcId="{49AA1783-0970-4C0B-8911-C418CE6FB25B}" destId="{0ED7F75A-30FA-437B-9787-5E1C835096D1}" srcOrd="0" destOrd="0" presId="urn:microsoft.com/office/officeart/2018/2/layout/IconVerticalSolidList"/>
    <dgm:cxn modelId="{A292E38E-1D28-484F-86EA-3754C0153388}" type="presParOf" srcId="{49AA1783-0970-4C0B-8911-C418CE6FB25B}" destId="{996F0A31-2A5F-4A81-A122-520CFADB1D8B}" srcOrd="1" destOrd="0" presId="urn:microsoft.com/office/officeart/2018/2/layout/IconVerticalSolidList"/>
    <dgm:cxn modelId="{33CDE52C-B90B-4805-98C5-A363DC7E1B6D}" type="presParOf" srcId="{49AA1783-0970-4C0B-8911-C418CE6FB25B}" destId="{57AAF9E6-B262-4226-A75E-09747E39C6A5}" srcOrd="2" destOrd="0" presId="urn:microsoft.com/office/officeart/2018/2/layout/IconVerticalSolidList"/>
    <dgm:cxn modelId="{4E2D36FA-A10E-4537-A635-E0C2DD9E4D28}" type="presParOf" srcId="{49AA1783-0970-4C0B-8911-C418CE6FB25B}" destId="{B229F8C2-EDCA-4442-BEEF-BCFEBC79EE15}" srcOrd="3" destOrd="0" presId="urn:microsoft.com/office/officeart/2018/2/layout/IconVerticalSolidList"/>
    <dgm:cxn modelId="{FC8FBB3D-4410-45B2-BD36-A9781AC65BB7}" type="presParOf" srcId="{D5AE0F4F-6E32-4D2E-9C64-CCFD086446C5}" destId="{0C8520EC-C2EE-4B83-A877-D2CAC21C1FB7}" srcOrd="3" destOrd="0" presId="urn:microsoft.com/office/officeart/2018/2/layout/IconVerticalSolidList"/>
    <dgm:cxn modelId="{3D2CEC7E-9D0E-4BBB-B5C2-F40510645818}" type="presParOf" srcId="{D5AE0F4F-6E32-4D2E-9C64-CCFD086446C5}" destId="{5CEAC9F1-352A-47A1-85FB-7E1EE5362BD4}" srcOrd="4" destOrd="0" presId="urn:microsoft.com/office/officeart/2018/2/layout/IconVerticalSolidList"/>
    <dgm:cxn modelId="{0925EE38-1290-4730-A1A5-A82AC7032F5E}" type="presParOf" srcId="{5CEAC9F1-352A-47A1-85FB-7E1EE5362BD4}" destId="{20F5B587-FDCA-46CC-B809-1298F5CF6F38}" srcOrd="0" destOrd="0" presId="urn:microsoft.com/office/officeart/2018/2/layout/IconVerticalSolidList"/>
    <dgm:cxn modelId="{9CBFE0E8-E8CB-4E28-AF02-06030CCD4866}" type="presParOf" srcId="{5CEAC9F1-352A-47A1-85FB-7E1EE5362BD4}" destId="{5D78554D-DE39-4573-88FC-905E20C61B18}" srcOrd="1" destOrd="0" presId="urn:microsoft.com/office/officeart/2018/2/layout/IconVerticalSolidList"/>
    <dgm:cxn modelId="{0D164A76-D1B7-4D92-B5EC-1E7FEDBBBB9B}" type="presParOf" srcId="{5CEAC9F1-352A-47A1-85FB-7E1EE5362BD4}" destId="{475856A8-C04B-4A11-91D6-5A3AA41E9D95}" srcOrd="2" destOrd="0" presId="urn:microsoft.com/office/officeart/2018/2/layout/IconVerticalSolidList"/>
    <dgm:cxn modelId="{85424EA9-EE3B-49E6-98C3-FB6BADFA8E75}" type="presParOf" srcId="{5CEAC9F1-352A-47A1-85FB-7E1EE5362BD4}" destId="{0870A0E1-41D4-4B9D-B017-225C1A2D648A}" srcOrd="3" destOrd="0" presId="urn:microsoft.com/office/officeart/2018/2/layout/IconVerticalSolidList"/>
    <dgm:cxn modelId="{6402044C-4343-4B12-92DE-C37ED5C7DE3E}" type="presParOf" srcId="{5CEAC9F1-352A-47A1-85FB-7E1EE5362BD4}" destId="{D11DD641-2223-437A-8D8F-59CF560AE25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74B51-85ED-8C4C-BB35-1C15602771C1}">
      <dsp:nvSpPr>
        <dsp:cNvPr id="0" name=""/>
        <dsp:cNvSpPr/>
      </dsp:nvSpPr>
      <dsp:spPr>
        <a:xfrm>
          <a:off x="769" y="989385"/>
          <a:ext cx="3000029" cy="180001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PDF text extraction</a:t>
          </a:r>
        </a:p>
      </dsp:txBody>
      <dsp:txXfrm>
        <a:off x="769" y="989385"/>
        <a:ext cx="3000029" cy="1800017"/>
      </dsp:txXfrm>
    </dsp:sp>
    <dsp:sp modelId="{C5B68F64-44D8-4748-991C-36D958B2058C}">
      <dsp:nvSpPr>
        <dsp:cNvPr id="0" name=""/>
        <dsp:cNvSpPr/>
      </dsp:nvSpPr>
      <dsp:spPr>
        <a:xfrm>
          <a:off x="3300801" y="989385"/>
          <a:ext cx="3000029" cy="180001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Biomedical concept recognition</a:t>
          </a:r>
        </a:p>
      </dsp:txBody>
      <dsp:txXfrm>
        <a:off x="3300801" y="989385"/>
        <a:ext cx="3000029" cy="1800017"/>
      </dsp:txXfrm>
    </dsp:sp>
    <dsp:sp modelId="{BDF0271F-D7A1-E843-8806-C1028C340656}">
      <dsp:nvSpPr>
        <dsp:cNvPr id="0" name=""/>
        <dsp:cNvSpPr/>
      </dsp:nvSpPr>
      <dsp:spPr>
        <a:xfrm>
          <a:off x="1650785" y="3089405"/>
          <a:ext cx="3000029" cy="180001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Large Language Models</a:t>
          </a:r>
        </a:p>
      </dsp:txBody>
      <dsp:txXfrm>
        <a:off x="1650785" y="3089405"/>
        <a:ext cx="3000029" cy="18000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D3F01-02ED-45D8-9596-23B4D95CABAB}">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CD756-4EE4-411D-A563-D72972DAA2B9}">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985D15-5936-4EE8-8044-79FF2DF4DA44}">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100000"/>
            </a:lnSpc>
            <a:spcBef>
              <a:spcPct val="0"/>
            </a:spcBef>
            <a:spcAft>
              <a:spcPct val="35000"/>
            </a:spcAft>
            <a:buNone/>
          </a:pPr>
          <a:r>
            <a:rPr lang="en-US" sz="2500" kern="1200"/>
            <a:t>Programmatic access to Box folder with PDFs of patient medical history</a:t>
          </a:r>
        </a:p>
      </dsp:txBody>
      <dsp:txXfrm>
        <a:off x="1939533" y="717"/>
        <a:ext cx="4362067" cy="1679249"/>
      </dsp:txXfrm>
    </dsp:sp>
    <dsp:sp modelId="{34ACFB80-D650-46D0-9F31-F0AA280B5519}">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37CCAC-24A0-4A10-9307-B1F1EA8143E4}">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B4F7D0-656B-4405-BAF1-695E4FE7541E}">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100000"/>
            </a:lnSpc>
            <a:spcBef>
              <a:spcPct val="0"/>
            </a:spcBef>
            <a:spcAft>
              <a:spcPct val="35000"/>
            </a:spcAft>
            <a:buNone/>
          </a:pPr>
          <a:r>
            <a:rPr lang="en-US" sz="2500" kern="1200"/>
            <a:t>PDF parsing (early stages)</a:t>
          </a:r>
        </a:p>
      </dsp:txBody>
      <dsp:txXfrm>
        <a:off x="1939533" y="2099779"/>
        <a:ext cx="4362067" cy="1679249"/>
      </dsp:txXfrm>
    </dsp:sp>
    <dsp:sp modelId="{6326C2B2-F446-4490-B962-E5FD4F5E4B51}">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B558F1-13D7-48BF-8B05-37D45581BFFD}">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6B180E-986D-4E1C-81E0-EEFDCD5CDC94}">
      <dsp:nvSpPr>
        <dsp:cNvPr id="0" name=""/>
        <dsp:cNvSpPr/>
      </dsp:nvSpPr>
      <dsp:spPr>
        <a:xfrm>
          <a:off x="1939533" y="4198841"/>
          <a:ext cx="2835720"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100000"/>
            </a:lnSpc>
            <a:spcBef>
              <a:spcPct val="0"/>
            </a:spcBef>
            <a:spcAft>
              <a:spcPct val="35000"/>
            </a:spcAft>
            <a:buNone/>
          </a:pPr>
          <a:r>
            <a:rPr lang="en-US" sz="2500" kern="1200"/>
            <a:t>Running LLM</a:t>
          </a:r>
        </a:p>
      </dsp:txBody>
      <dsp:txXfrm>
        <a:off x="1939533" y="4198841"/>
        <a:ext cx="2835720" cy="1679249"/>
      </dsp:txXfrm>
    </dsp:sp>
    <dsp:sp modelId="{D09C8A4F-67BA-478C-B4DA-78FFEC8028F7}">
      <dsp:nvSpPr>
        <dsp:cNvPr id="0" name=""/>
        <dsp:cNvSpPr/>
      </dsp:nvSpPr>
      <dsp:spPr>
        <a:xfrm>
          <a:off x="4775253" y="4198841"/>
          <a:ext cx="152634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800100">
            <a:lnSpc>
              <a:spcPct val="100000"/>
            </a:lnSpc>
            <a:spcBef>
              <a:spcPct val="0"/>
            </a:spcBef>
            <a:spcAft>
              <a:spcPct val="35000"/>
            </a:spcAft>
            <a:buNone/>
          </a:pPr>
          <a:endParaRPr lang="en-US" sz="1800" kern="1200"/>
        </a:p>
      </dsp:txBody>
      <dsp:txXfrm>
        <a:off x="4775253" y="4198841"/>
        <a:ext cx="1526347" cy="1679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7077B-3DE4-4E38-8242-69EAFAC8311E}">
      <dsp:nvSpPr>
        <dsp:cNvPr id="0" name=""/>
        <dsp:cNvSpPr/>
      </dsp:nvSpPr>
      <dsp:spPr>
        <a:xfrm>
          <a:off x="-262398" y="9318"/>
          <a:ext cx="6301601" cy="16743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597ECB-6291-412D-B403-7DA3446D97BC}">
      <dsp:nvSpPr>
        <dsp:cNvPr id="0" name=""/>
        <dsp:cNvSpPr/>
      </dsp:nvSpPr>
      <dsp:spPr>
        <a:xfrm>
          <a:off x="244087" y="386043"/>
          <a:ext cx="920884" cy="9208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076A3F-614C-4D4A-BBE9-08F2FF043391}">
      <dsp:nvSpPr>
        <dsp:cNvPr id="0" name=""/>
        <dsp:cNvSpPr/>
      </dsp:nvSpPr>
      <dsp:spPr>
        <a:xfrm>
          <a:off x="1671457" y="9318"/>
          <a:ext cx="4363961" cy="167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200" tIns="177200" rIns="177200" bIns="177200" numCol="1" spcCol="1270" anchor="ctr" anchorCtr="0">
          <a:noAutofit/>
        </a:bodyPr>
        <a:lstStyle/>
        <a:p>
          <a:pPr marL="0" lvl="0" indent="0" algn="l" defTabSz="1022350">
            <a:lnSpc>
              <a:spcPct val="90000"/>
            </a:lnSpc>
            <a:spcBef>
              <a:spcPct val="0"/>
            </a:spcBef>
            <a:spcAft>
              <a:spcPct val="35000"/>
            </a:spcAft>
            <a:buNone/>
          </a:pPr>
          <a:r>
            <a:rPr lang="en-US" sz="2300" kern="1200"/>
            <a:t>Replicate OFR question/answering on entire patient history</a:t>
          </a:r>
        </a:p>
      </dsp:txBody>
      <dsp:txXfrm>
        <a:off x="1671457" y="9318"/>
        <a:ext cx="4363961" cy="1674334"/>
      </dsp:txXfrm>
    </dsp:sp>
    <dsp:sp modelId="{0ED7F75A-30FA-437B-9787-5E1C835096D1}">
      <dsp:nvSpPr>
        <dsp:cNvPr id="0" name=""/>
        <dsp:cNvSpPr/>
      </dsp:nvSpPr>
      <dsp:spPr>
        <a:xfrm>
          <a:off x="-262398" y="2102237"/>
          <a:ext cx="6301601" cy="16743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6F0A31-2A5F-4A81-A122-520CFADB1D8B}">
      <dsp:nvSpPr>
        <dsp:cNvPr id="0" name=""/>
        <dsp:cNvSpPr/>
      </dsp:nvSpPr>
      <dsp:spPr>
        <a:xfrm>
          <a:off x="244087" y="2478962"/>
          <a:ext cx="920884" cy="9208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29F8C2-EDCA-4442-BEEF-BCFEBC79EE15}">
      <dsp:nvSpPr>
        <dsp:cNvPr id="0" name=""/>
        <dsp:cNvSpPr/>
      </dsp:nvSpPr>
      <dsp:spPr>
        <a:xfrm>
          <a:off x="1671457" y="2102237"/>
          <a:ext cx="4363961" cy="167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200" tIns="177200" rIns="177200" bIns="177200" numCol="1" spcCol="1270" anchor="ctr" anchorCtr="0">
          <a:noAutofit/>
        </a:bodyPr>
        <a:lstStyle/>
        <a:p>
          <a:pPr marL="0" lvl="0" indent="0" algn="l" defTabSz="1022350">
            <a:lnSpc>
              <a:spcPct val="90000"/>
            </a:lnSpc>
            <a:spcBef>
              <a:spcPct val="0"/>
            </a:spcBef>
            <a:spcAft>
              <a:spcPct val="35000"/>
            </a:spcAft>
            <a:buNone/>
          </a:pPr>
          <a:r>
            <a:rPr lang="en-US" sz="2300" kern="1200"/>
            <a:t>Replicate OFR question/answering on per-encounter basis to develop patient timeline</a:t>
          </a:r>
        </a:p>
      </dsp:txBody>
      <dsp:txXfrm>
        <a:off x="1671457" y="2102237"/>
        <a:ext cx="4363961" cy="1674334"/>
      </dsp:txXfrm>
    </dsp:sp>
    <dsp:sp modelId="{20F5B587-FDCA-46CC-B809-1298F5CF6F38}">
      <dsp:nvSpPr>
        <dsp:cNvPr id="0" name=""/>
        <dsp:cNvSpPr/>
      </dsp:nvSpPr>
      <dsp:spPr>
        <a:xfrm>
          <a:off x="-262398" y="4195155"/>
          <a:ext cx="6301601" cy="16743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78554D-DE39-4573-88FC-905E20C61B18}">
      <dsp:nvSpPr>
        <dsp:cNvPr id="0" name=""/>
        <dsp:cNvSpPr/>
      </dsp:nvSpPr>
      <dsp:spPr>
        <a:xfrm>
          <a:off x="244087" y="4571880"/>
          <a:ext cx="920884" cy="92088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70A0E1-41D4-4B9D-B017-225C1A2D648A}">
      <dsp:nvSpPr>
        <dsp:cNvPr id="0" name=""/>
        <dsp:cNvSpPr/>
      </dsp:nvSpPr>
      <dsp:spPr>
        <a:xfrm>
          <a:off x="1671457" y="4195155"/>
          <a:ext cx="2835720" cy="167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200" tIns="177200" rIns="177200" bIns="177200" numCol="1" spcCol="1270" anchor="ctr" anchorCtr="0">
          <a:noAutofit/>
        </a:bodyPr>
        <a:lstStyle/>
        <a:p>
          <a:pPr marL="0" lvl="0" indent="0" algn="l" defTabSz="1022350">
            <a:lnSpc>
              <a:spcPct val="90000"/>
            </a:lnSpc>
            <a:spcBef>
              <a:spcPct val="0"/>
            </a:spcBef>
            <a:spcAft>
              <a:spcPct val="35000"/>
            </a:spcAft>
            <a:buNone/>
          </a:pPr>
          <a:r>
            <a:rPr lang="en-US" sz="2300" kern="1200"/>
            <a:t>Focus on extracting:</a:t>
          </a:r>
        </a:p>
      </dsp:txBody>
      <dsp:txXfrm>
        <a:off x="1671457" y="4195155"/>
        <a:ext cx="2835720" cy="1674334"/>
      </dsp:txXfrm>
    </dsp:sp>
    <dsp:sp modelId="{D11DD641-2223-437A-8D8F-59CF560AE254}">
      <dsp:nvSpPr>
        <dsp:cNvPr id="0" name=""/>
        <dsp:cNvSpPr/>
      </dsp:nvSpPr>
      <dsp:spPr>
        <a:xfrm>
          <a:off x="3408808" y="4204474"/>
          <a:ext cx="2585402" cy="167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200" tIns="177200" rIns="177200" bIns="177200" numCol="1" spcCol="1270" anchor="ctr" anchorCtr="0">
          <a:noAutofit/>
        </a:bodyPr>
        <a:lstStyle/>
        <a:p>
          <a:pPr marL="0" lvl="0" indent="0" algn="l" defTabSz="533400">
            <a:lnSpc>
              <a:spcPct val="90000"/>
            </a:lnSpc>
            <a:spcBef>
              <a:spcPct val="0"/>
            </a:spcBef>
            <a:spcAft>
              <a:spcPct val="35000"/>
            </a:spcAft>
            <a:buNone/>
          </a:pPr>
          <a:r>
            <a:rPr lang="en-US" sz="1200" kern="1200"/>
            <a:t>Toxicology and drug data</a:t>
          </a:r>
        </a:p>
        <a:p>
          <a:pPr marL="0" lvl="0" indent="0" algn="l" defTabSz="533400">
            <a:lnSpc>
              <a:spcPct val="90000"/>
            </a:lnSpc>
            <a:spcBef>
              <a:spcPct val="0"/>
            </a:spcBef>
            <a:spcAft>
              <a:spcPct val="35000"/>
            </a:spcAft>
            <a:buNone/>
          </a:pPr>
          <a:r>
            <a:rPr lang="en-US" sz="1200" kern="1200" dirty="0"/>
            <a:t>Mental health</a:t>
          </a:r>
        </a:p>
        <a:p>
          <a:pPr marL="0" lvl="0" indent="0" algn="l" defTabSz="533400">
            <a:lnSpc>
              <a:spcPct val="90000"/>
            </a:lnSpc>
            <a:spcBef>
              <a:spcPct val="0"/>
            </a:spcBef>
            <a:spcAft>
              <a:spcPct val="35000"/>
            </a:spcAft>
            <a:buNone/>
          </a:pPr>
          <a:r>
            <a:rPr lang="en-US" sz="1200" kern="1200"/>
            <a:t>Social health and history</a:t>
          </a:r>
        </a:p>
        <a:p>
          <a:pPr marL="0" lvl="0" indent="0" algn="l" defTabSz="533400">
            <a:lnSpc>
              <a:spcPct val="90000"/>
            </a:lnSpc>
            <a:spcBef>
              <a:spcPct val="0"/>
            </a:spcBef>
            <a:spcAft>
              <a:spcPct val="35000"/>
            </a:spcAft>
            <a:buNone/>
          </a:pPr>
          <a:r>
            <a:rPr lang="en-US" sz="1200" kern="1200"/>
            <a:t>Relevant dates and hospital systems</a:t>
          </a:r>
        </a:p>
      </dsp:txBody>
      <dsp:txXfrm>
        <a:off x="3408808" y="4204474"/>
        <a:ext cx="2585402" cy="167433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8F2EC8-F41A-994B-B725-1D32C89A3D65}" type="datetimeFigureOut">
              <a:rPr lang="en-US" smtClean="0"/>
              <a:t>9/13/24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169A97-9A42-0146-B59A-DDC2480B91F1}" type="slidenum">
              <a:rPr lang="en-US" smtClean="0"/>
              <a:t>‹#›</a:t>
            </a:fld>
            <a:endParaRPr lang="en-US"/>
          </a:p>
        </p:txBody>
      </p:sp>
    </p:spTree>
    <p:extLst>
      <p:ext uri="{BB962C8B-B14F-4D97-AF65-F5344CB8AC3E}">
        <p14:creationId xmlns:p14="http://schemas.microsoft.com/office/powerpoint/2010/main" val="30398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169A97-9A42-0146-B59A-DDC2480B91F1}" type="slidenum">
              <a:rPr lang="en-US" smtClean="0"/>
              <a:t>1</a:t>
            </a:fld>
            <a:endParaRPr lang="en-US"/>
          </a:p>
        </p:txBody>
      </p:sp>
    </p:spTree>
    <p:extLst>
      <p:ext uri="{BB962C8B-B14F-4D97-AF65-F5344CB8AC3E}">
        <p14:creationId xmlns:p14="http://schemas.microsoft.com/office/powerpoint/2010/main" val="2989939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NLP is a broad topic that can achieve a lot of tasks related to text. Relevant to this project are:</a:t>
            </a:r>
          </a:p>
          <a:p>
            <a:pPr marL="171450" indent="-171450">
              <a:buFontTx/>
              <a:buChar char="-"/>
            </a:pPr>
            <a:r>
              <a:rPr lang="en-US" dirty="0"/>
              <a:t>Ability to parse text out of a PDF document. This results in you having the data (usually in a very unstructured format – think of a huge paragraph) for all of the text on each PDF page.</a:t>
            </a:r>
          </a:p>
          <a:p>
            <a:pPr marL="171450" indent="-171450">
              <a:buFontTx/>
              <a:buChar char="-"/>
            </a:pPr>
            <a:r>
              <a:rPr lang="en-US" dirty="0"/>
              <a:t>Ability to extract specific concepts or entities from text. Primarily for our purposes this refers to </a:t>
            </a:r>
            <a:r>
              <a:rPr lang="en-US" i="1" dirty="0"/>
              <a:t>biomedical</a:t>
            </a:r>
            <a:r>
              <a:rPr lang="en-US" i="0" dirty="0"/>
              <a:t> concepts meaning anything related to medicine. Examples include drug names such as fentanyl, cocaine or other “conceptual ideas” such as homeless or social determinants of health.</a:t>
            </a:r>
          </a:p>
          <a:p>
            <a:pPr marL="171450" indent="-171450">
              <a:buFontTx/>
              <a:buChar char="-"/>
            </a:pPr>
            <a:r>
              <a:rPr lang="en-US" i="0" dirty="0"/>
              <a:t>Large language models (have you heard of ChatGPT?) have revolutionized the NLP industry by providing very robust machine learning models that are capable of understanding textual data like never before. For us, this means we can provide the model with a large corpus (body) of text and ask it questions. For example, “How many illicit drugs are there in this medical encounter?”</a:t>
            </a:r>
            <a:endParaRPr lang="en-US" dirty="0"/>
          </a:p>
        </p:txBody>
      </p:sp>
      <p:sp>
        <p:nvSpPr>
          <p:cNvPr id="4" name="Slide Number Placeholder 3"/>
          <p:cNvSpPr>
            <a:spLocks noGrp="1"/>
          </p:cNvSpPr>
          <p:nvPr>
            <p:ph type="sldNum" sz="quarter" idx="5"/>
          </p:nvPr>
        </p:nvSpPr>
        <p:spPr/>
        <p:txBody>
          <a:bodyPr/>
          <a:lstStyle/>
          <a:p>
            <a:fld id="{92169A97-9A42-0146-B59A-DDC2480B91F1}" type="slidenum">
              <a:rPr lang="en-US" smtClean="0"/>
              <a:t>2</a:t>
            </a:fld>
            <a:endParaRPr lang="en-US"/>
          </a:p>
        </p:txBody>
      </p:sp>
    </p:spTree>
    <p:extLst>
      <p:ext uri="{BB962C8B-B14F-4D97-AF65-F5344CB8AC3E}">
        <p14:creationId xmlns:p14="http://schemas.microsoft.com/office/powerpoint/2010/main" val="1252172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planned project architecture takes advantage of all of these NLP methods to help automate and simply the OFR process. </a:t>
            </a:r>
          </a:p>
          <a:p>
            <a:endParaRPr lang="en-US" dirty="0"/>
          </a:p>
          <a:p>
            <a:r>
              <a:rPr lang="en-US" dirty="0"/>
              <a:t>NOTE that we do not intend to remove the human review component, it is still vital to ensure data accuracy and reliability.</a:t>
            </a:r>
          </a:p>
          <a:p>
            <a:endParaRPr lang="en-US" dirty="0"/>
          </a:p>
          <a:p>
            <a:r>
              <a:rPr lang="en-US" dirty="0"/>
              <a:t>Our process starts by having someone go into the medical records system and export the large PDF from EPIC containing a decedent’s entire medical history. That person will then upload the PDF to a secure Box folder and give it an appropriate name. This process repeats for each patient of interest.</a:t>
            </a:r>
          </a:p>
          <a:p>
            <a:endParaRPr lang="en-US" dirty="0"/>
          </a:p>
          <a:p>
            <a:r>
              <a:rPr lang="en-US" dirty="0"/>
              <a:t>Once PDFs for all relevant patients are uploaded into Box, an automated Python program can begin the process of extracting potentially relevant information for the OFR. This process starts by programmatically accessing the Box folder (so no data ever leaves Box), and then following the below steps </a:t>
            </a:r>
            <a:r>
              <a:rPr lang="en-US" i="1" dirty="0"/>
              <a:t>for each</a:t>
            </a:r>
            <a:r>
              <a:rPr lang="en-US" i="0" dirty="0"/>
              <a:t> PDF (descendent) in the specified folder:</a:t>
            </a:r>
          </a:p>
          <a:p>
            <a:pPr marL="171450" indent="-171450">
              <a:buFontTx/>
              <a:buChar char="-"/>
            </a:pPr>
            <a:r>
              <a:rPr lang="en-US" i="0" dirty="0"/>
              <a:t>Authorize via API</a:t>
            </a:r>
          </a:p>
          <a:p>
            <a:pPr marL="171450" indent="-171450">
              <a:buFontTx/>
              <a:buChar char="-"/>
            </a:pPr>
            <a:r>
              <a:rPr lang="en-US" i="0" dirty="0"/>
              <a:t>Access PDF file</a:t>
            </a:r>
          </a:p>
          <a:p>
            <a:pPr marL="171450" indent="-171450">
              <a:buFontTx/>
              <a:buChar char="-"/>
            </a:pPr>
            <a:r>
              <a:rPr lang="en-US" i="0" dirty="0"/>
              <a:t>Parse text from PDF file</a:t>
            </a:r>
          </a:p>
          <a:p>
            <a:pPr marL="171450" indent="-171450">
              <a:buFontTx/>
              <a:buChar char="-"/>
            </a:pPr>
            <a:r>
              <a:rPr lang="en-US" i="0" dirty="0"/>
              <a:t>Split text into encounters</a:t>
            </a:r>
          </a:p>
          <a:p>
            <a:pPr marL="171450" indent="-171450">
              <a:buFontTx/>
              <a:buChar char="-"/>
            </a:pPr>
            <a:r>
              <a:rPr lang="en-US" i="0" dirty="0"/>
              <a:t>Query a self-hosted model</a:t>
            </a:r>
          </a:p>
          <a:p>
            <a:pPr marL="628650" lvl="1" indent="-171450">
              <a:buFontTx/>
              <a:buChar char="-"/>
            </a:pPr>
            <a:r>
              <a:rPr lang="en-US" i="0" dirty="0"/>
              <a:t>”Self-hosted” here means </a:t>
            </a:r>
            <a:r>
              <a:rPr lang="en-US" b="1" i="0" dirty="0"/>
              <a:t>not</a:t>
            </a:r>
            <a:r>
              <a:rPr lang="en-US" b="1" i="1" dirty="0"/>
              <a:t> </a:t>
            </a:r>
            <a:r>
              <a:rPr lang="en-US" b="0" i="0" dirty="0"/>
              <a:t>OpenAI, so the data is not being sent to a third party and is still secure</a:t>
            </a:r>
          </a:p>
          <a:p>
            <a:pPr marL="171450" lvl="0" indent="-171450">
              <a:buFontTx/>
              <a:buChar char="-"/>
            </a:pPr>
            <a:r>
              <a:rPr lang="en-US" b="0" i="0" dirty="0"/>
              <a:t>Potentially relevant questions can be broken down by entire patient overview or per-encounter</a:t>
            </a:r>
          </a:p>
          <a:p>
            <a:pPr marL="171450" lvl="0" indent="-171450">
              <a:buFontTx/>
              <a:buChar char="-"/>
            </a:pPr>
            <a:r>
              <a:rPr lang="en-US" b="0" i="0" dirty="0"/>
              <a:t>Patient Overview Questions (examples):</a:t>
            </a:r>
          </a:p>
          <a:p>
            <a:pPr marL="628650" lvl="1" indent="-171450">
              <a:buFontTx/>
              <a:buChar char="-"/>
            </a:pPr>
            <a:r>
              <a:rPr lang="en-US" b="0" i="0" dirty="0"/>
              <a:t>What is this patient’s social history?</a:t>
            </a:r>
          </a:p>
          <a:p>
            <a:pPr marL="628650" lvl="1" indent="-171450">
              <a:buFontTx/>
              <a:buChar char="-"/>
            </a:pPr>
            <a:r>
              <a:rPr lang="en-US" b="0" i="0" dirty="0"/>
              <a:t>How many hospital encounters did this patient have and over what time period?</a:t>
            </a:r>
          </a:p>
          <a:p>
            <a:pPr marL="628650" lvl="1" indent="-171450">
              <a:buFontTx/>
              <a:buChar char="-"/>
            </a:pPr>
            <a:r>
              <a:rPr lang="en-US" b="0" i="0" dirty="0"/>
              <a:t>How many different hospital systems did this patient visit and which was most frequent?</a:t>
            </a:r>
          </a:p>
          <a:p>
            <a:pPr marL="171450" lvl="0" indent="-171450">
              <a:buFontTx/>
              <a:buChar char="-"/>
            </a:pPr>
            <a:r>
              <a:rPr lang="en-US" b="0" i="0" dirty="0"/>
              <a:t>Encounter Specific Questions (examples):</a:t>
            </a:r>
          </a:p>
          <a:p>
            <a:pPr marL="628650" lvl="1" indent="-171450">
              <a:buFontTx/>
              <a:buChar char="-"/>
            </a:pPr>
            <a:r>
              <a:rPr lang="en-US" b="0" i="0" dirty="0"/>
              <a:t>When did this encounter occur?</a:t>
            </a:r>
          </a:p>
          <a:p>
            <a:pPr marL="628650" lvl="1" indent="-171450">
              <a:buFontTx/>
              <a:buChar char="-"/>
            </a:pPr>
            <a:r>
              <a:rPr lang="en-US" b="0" i="0" dirty="0"/>
              <a:t>What was the chief complaint?</a:t>
            </a:r>
          </a:p>
          <a:p>
            <a:pPr marL="628650" lvl="1" indent="-171450">
              <a:buFontTx/>
              <a:buChar char="-"/>
            </a:pPr>
            <a:r>
              <a:rPr lang="en-US" b="0" i="0" dirty="0"/>
              <a:t>What major drugs, if any, were involved?</a:t>
            </a:r>
          </a:p>
          <a:p>
            <a:pPr marL="628650" lvl="1" indent="-171450">
              <a:buFontTx/>
              <a:buChar char="-"/>
            </a:pPr>
            <a:r>
              <a:rPr lang="en-US" b="0" i="0" dirty="0"/>
              <a:t>Which hospital system did this encounter occur at?</a:t>
            </a:r>
          </a:p>
          <a:p>
            <a:pPr marL="171450" lvl="0" indent="-171450">
              <a:buFontTx/>
              <a:buChar char="-"/>
            </a:pPr>
            <a:r>
              <a:rPr lang="en-US" b="0" i="0" dirty="0"/>
              <a:t>Once the model has answered all of these questions for the the current patient PDF, we export the results of the model back to Box as a new Summary Document for manual review </a:t>
            </a:r>
          </a:p>
          <a:p>
            <a:pPr marL="171450" lvl="0" indent="-171450">
              <a:buFontTx/>
              <a:buChar char="-"/>
            </a:pPr>
            <a:r>
              <a:rPr lang="en-US" b="0" i="0" dirty="0"/>
              <a:t>From this point, the summary document can be used as a reference to create presentations, timelines</a:t>
            </a:r>
            <a:r>
              <a:rPr lang="en-US" b="0" i="0"/>
              <a:t>, etc</a:t>
            </a:r>
            <a:r>
              <a:rPr lang="en-US" b="0" i="0" dirty="0"/>
              <a:t>.</a:t>
            </a:r>
          </a:p>
          <a:p>
            <a:pPr marL="171450" lvl="0" indent="-171450">
              <a:buFontTx/>
              <a:buChar char="-"/>
            </a:pPr>
            <a:endParaRPr lang="en-US" b="0" i="0" dirty="0"/>
          </a:p>
        </p:txBody>
      </p:sp>
      <p:sp>
        <p:nvSpPr>
          <p:cNvPr id="4" name="Slide Number Placeholder 3"/>
          <p:cNvSpPr>
            <a:spLocks noGrp="1"/>
          </p:cNvSpPr>
          <p:nvPr>
            <p:ph type="sldNum" sz="quarter" idx="5"/>
          </p:nvPr>
        </p:nvSpPr>
        <p:spPr/>
        <p:txBody>
          <a:bodyPr/>
          <a:lstStyle/>
          <a:p>
            <a:fld id="{92169A97-9A42-0146-B59A-DDC2480B91F1}" type="slidenum">
              <a:rPr lang="en-US" smtClean="0"/>
              <a:t>3</a:t>
            </a:fld>
            <a:endParaRPr lang="en-US"/>
          </a:p>
        </p:txBody>
      </p:sp>
    </p:spTree>
    <p:extLst>
      <p:ext uri="{BB962C8B-B14F-4D97-AF65-F5344CB8AC3E}">
        <p14:creationId xmlns:p14="http://schemas.microsoft.com/office/powerpoint/2010/main" val="3029690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are we today?</a:t>
            </a:r>
          </a:p>
          <a:p>
            <a:endParaRPr lang="en-US" dirty="0"/>
          </a:p>
          <a:p>
            <a:r>
              <a:rPr lang="en-US" dirty="0"/>
              <a:t>Steps:</a:t>
            </a:r>
          </a:p>
          <a:p>
            <a:pPr marL="171450" indent="-171450">
              <a:buFontTx/>
              <a:buChar char="-"/>
            </a:pPr>
            <a:r>
              <a:rPr lang="en-US" dirty="0"/>
              <a:t>Programmatic access to the Box folder </a:t>
            </a:r>
          </a:p>
          <a:p>
            <a:pPr marL="171450" indent="-171450">
              <a:buFontTx/>
              <a:buChar char="-"/>
            </a:pPr>
            <a:r>
              <a:rPr lang="en-US" dirty="0"/>
              <a:t>Able to parse text from PDFs</a:t>
            </a:r>
          </a:p>
          <a:p>
            <a:pPr marL="628650" lvl="1" indent="-171450">
              <a:buFontTx/>
              <a:buChar char="-"/>
            </a:pPr>
            <a:r>
              <a:rPr lang="en-US" dirty="0"/>
              <a:t>Currently only able to parse the entire PDF, still working on splitting it into individual encounters</a:t>
            </a:r>
          </a:p>
          <a:p>
            <a:pPr marL="171450" lvl="0" indent="-171450">
              <a:buFontTx/>
              <a:buChar char="-"/>
            </a:pPr>
            <a:r>
              <a:rPr lang="en-US" dirty="0"/>
              <a:t>Self-hosted LLM running with some simple queries tested against the entire patient history</a:t>
            </a:r>
          </a:p>
          <a:p>
            <a:endParaRPr lang="en-US" dirty="0"/>
          </a:p>
          <a:p>
            <a:r>
              <a:rPr lang="en-US" dirty="0"/>
              <a:t>Logistics:</a:t>
            </a:r>
          </a:p>
          <a:p>
            <a:pPr marL="171450" indent="-171450">
              <a:buFontTx/>
              <a:buChar char="-"/>
            </a:pPr>
            <a:r>
              <a:rPr lang="en-US"/>
              <a:t>Contract </a:t>
            </a:r>
            <a:r>
              <a:rPr lang="en-US" dirty="0"/>
              <a:t>execution is almost completed</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2169A97-9A42-0146-B59A-DDC2480B91F1}" type="slidenum">
              <a:rPr lang="en-US" smtClean="0"/>
              <a:t>4</a:t>
            </a:fld>
            <a:endParaRPr lang="en-US"/>
          </a:p>
        </p:txBody>
      </p:sp>
    </p:spTree>
    <p:extLst>
      <p:ext uri="{BB962C8B-B14F-4D97-AF65-F5344CB8AC3E}">
        <p14:creationId xmlns:p14="http://schemas.microsoft.com/office/powerpoint/2010/main" val="802748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38F59-AEF3-30B4-13A3-CD5EDCA012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1C670A-52EF-38A7-96AD-1892972EF5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A57266-F039-3104-1C8A-E98A446125C9}"/>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5" name="Footer Placeholder 4">
            <a:extLst>
              <a:ext uri="{FF2B5EF4-FFF2-40B4-BE49-F238E27FC236}">
                <a16:creationId xmlns:a16="http://schemas.microsoft.com/office/drawing/2014/main" id="{FF93E47D-2DFE-9A2F-4C86-D25D0938A0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25AAB-16D3-D9BA-864D-54A87372811F}"/>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60621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0A6B0-BBF1-7DD3-7E46-F6F1D335DD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1F2E13-0953-7F8C-50A2-1E653302BD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DEDE4-831B-809F-DEF3-9C68F1C70E90}"/>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5" name="Footer Placeholder 4">
            <a:extLst>
              <a:ext uri="{FF2B5EF4-FFF2-40B4-BE49-F238E27FC236}">
                <a16:creationId xmlns:a16="http://schemas.microsoft.com/office/drawing/2014/main" id="{30997009-904F-565E-BCFD-75F7B3B93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7F68B-D9F0-536E-34E1-9338B8C33582}"/>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1909979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38F92-1EDC-48BE-F94F-B59E567053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062FB2-6A89-819C-079F-1C9AC9C95C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EAF533-B7A1-2AD4-0136-6089DF542C22}"/>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5" name="Footer Placeholder 4">
            <a:extLst>
              <a:ext uri="{FF2B5EF4-FFF2-40B4-BE49-F238E27FC236}">
                <a16:creationId xmlns:a16="http://schemas.microsoft.com/office/drawing/2014/main" id="{3E6F7D22-E6D8-09D4-20E5-CDEB332FF2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81905-52A0-599B-F445-8D63EC77C3E3}"/>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169293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149F-6C45-39A7-C8CE-40B43C1949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F1621F-39F8-5234-A551-22EA833351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631EE-B027-AB27-7F70-478D42C11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87A484-72F5-8EB0-D78C-CAC0C6CFE4E2}"/>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6" name="Footer Placeholder 5">
            <a:extLst>
              <a:ext uri="{FF2B5EF4-FFF2-40B4-BE49-F238E27FC236}">
                <a16:creationId xmlns:a16="http://schemas.microsoft.com/office/drawing/2014/main" id="{2EBA0A47-5DA2-A5F7-EC20-9FAAAC5633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AE18A8-DFEC-32D6-23C2-C1E2360E124E}"/>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852406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743A9-3168-6A78-9CEC-B8958DCE66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FE840C-DAFE-908A-A26C-2C65BAF910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D02C2C-603B-A068-211A-AE473DCBE7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9866B3-0335-928F-CF68-3982CFF57D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C22616-751D-996E-1BC0-E2E392CBC6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797DCA-DFA1-A49C-D306-4F6BBA2B1576}"/>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8" name="Footer Placeholder 7">
            <a:extLst>
              <a:ext uri="{FF2B5EF4-FFF2-40B4-BE49-F238E27FC236}">
                <a16:creationId xmlns:a16="http://schemas.microsoft.com/office/drawing/2014/main" id="{2767C615-5D31-6D0B-4BAE-1838A6945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E2C549-3F5F-2AAD-947C-458FF19A4B09}"/>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4198740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3D2D-F1BE-65C2-F032-549E3FD930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A94970-36A9-0978-2EA0-491DBE48DF94}"/>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4" name="Footer Placeholder 3">
            <a:extLst>
              <a:ext uri="{FF2B5EF4-FFF2-40B4-BE49-F238E27FC236}">
                <a16:creationId xmlns:a16="http://schemas.microsoft.com/office/drawing/2014/main" id="{D2DEFD52-C96B-3C76-7651-0A924A8EAE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D583E0-8DE0-55C5-F676-C63AD417E1DD}"/>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702573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6BA795-FD5A-5993-A849-C9BDCE26F623}"/>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3" name="Footer Placeholder 2">
            <a:extLst>
              <a:ext uri="{FF2B5EF4-FFF2-40B4-BE49-F238E27FC236}">
                <a16:creationId xmlns:a16="http://schemas.microsoft.com/office/drawing/2014/main" id="{6BB830FA-C1F2-03E9-0CDE-E11BC0053D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500975-BE76-25E0-5E8E-152B22986C04}"/>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3423840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7D523-3112-0E85-1051-EA94FA18EA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447B75-A8BC-042F-9BA0-A13E5CB605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6D9DFF-142F-D958-ACC2-BB7B6F000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4CE0B-964D-2625-11C7-B2353E494D52}"/>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6" name="Footer Placeholder 5">
            <a:extLst>
              <a:ext uri="{FF2B5EF4-FFF2-40B4-BE49-F238E27FC236}">
                <a16:creationId xmlns:a16="http://schemas.microsoft.com/office/drawing/2014/main" id="{E26408B4-CBC1-9234-1C5C-E3D1E78252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BBDA8E-199F-9B89-16A9-9E4E1E0A6CC5}"/>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11265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C836F-F9C2-C684-5EC6-D5A46C47E8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73EB2E-F744-75D8-6996-DB268986BC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B4F73A-F8DF-DBCF-6E6E-A6C7013EA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FA8F62-5BE9-0EC8-7AC0-D21A67150517}"/>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6" name="Footer Placeholder 5">
            <a:extLst>
              <a:ext uri="{FF2B5EF4-FFF2-40B4-BE49-F238E27FC236}">
                <a16:creationId xmlns:a16="http://schemas.microsoft.com/office/drawing/2014/main" id="{AD7BFC63-0B00-AF5B-3E87-CC3501092D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7CD2D-CC60-6062-F88C-119B14233976}"/>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3484579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D855A-0420-9AF7-BB11-A026A761F1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258CAB-3816-61EB-9D3C-2581C11DF8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43C176-260E-0B62-387A-EF23F7EBE4CF}"/>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5" name="Footer Placeholder 4">
            <a:extLst>
              <a:ext uri="{FF2B5EF4-FFF2-40B4-BE49-F238E27FC236}">
                <a16:creationId xmlns:a16="http://schemas.microsoft.com/office/drawing/2014/main" id="{41AA8A43-F482-0CBA-EF2B-80AB3196D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07239-CD0A-FE9F-B7A5-80CE0BDB9783}"/>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1194901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331690-183E-14CE-AE56-BCF91C69C1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9C6FA1-E99A-28C1-412D-622FA52DFB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A7AF4B-987F-0642-C5EF-A9BE644067E6}"/>
              </a:ext>
            </a:extLst>
          </p:cNvPr>
          <p:cNvSpPr>
            <a:spLocks noGrp="1"/>
          </p:cNvSpPr>
          <p:nvPr>
            <p:ph type="dt" sz="half" idx="10"/>
          </p:nvPr>
        </p:nvSpPr>
        <p:spPr/>
        <p:txBody>
          <a:bodyPr/>
          <a:lstStyle/>
          <a:p>
            <a:fld id="{495647BF-6C99-D844-B32D-5B6A82132D59}" type="datetimeFigureOut">
              <a:rPr lang="en-US" smtClean="0"/>
              <a:t>9/13/24</a:t>
            </a:fld>
            <a:endParaRPr lang="en-US"/>
          </a:p>
        </p:txBody>
      </p:sp>
      <p:sp>
        <p:nvSpPr>
          <p:cNvPr id="5" name="Footer Placeholder 4">
            <a:extLst>
              <a:ext uri="{FF2B5EF4-FFF2-40B4-BE49-F238E27FC236}">
                <a16:creationId xmlns:a16="http://schemas.microsoft.com/office/drawing/2014/main" id="{5CBC1E48-8D45-893C-3ACE-57298BFFB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F5FA2-B394-E461-6EB7-E1BBFC691E56}"/>
              </a:ext>
            </a:extLst>
          </p:cNvPr>
          <p:cNvSpPr>
            <a:spLocks noGrp="1"/>
          </p:cNvSpPr>
          <p:nvPr>
            <p:ph type="sldNum" sz="quarter" idx="12"/>
          </p:nvPr>
        </p:nvSpPr>
        <p:spPr/>
        <p:txBody>
          <a:bodyPr/>
          <a:lstStyle/>
          <a:p>
            <a:fld id="{7EC1C738-21E7-C64F-9639-166B21129A20}" type="slidenum">
              <a:rPr lang="en-US" smtClean="0"/>
              <a:t>‹#›</a:t>
            </a:fld>
            <a:endParaRPr lang="en-US"/>
          </a:p>
        </p:txBody>
      </p:sp>
    </p:spTree>
    <p:extLst>
      <p:ext uri="{BB962C8B-B14F-4D97-AF65-F5344CB8AC3E}">
        <p14:creationId xmlns:p14="http://schemas.microsoft.com/office/powerpoint/2010/main" val="1192083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CBC6DE-1684-B33E-7DD2-D0D7979D8A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AAFE02-C50C-7D45-B022-EBFD16AC3A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826E5-E4DC-AAB0-99F6-927EA567B7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5647BF-6C99-D844-B32D-5B6A82132D59}" type="datetimeFigureOut">
              <a:rPr lang="en-US" smtClean="0"/>
              <a:t>9/13/24</a:t>
            </a:fld>
            <a:endParaRPr lang="en-US"/>
          </a:p>
        </p:txBody>
      </p:sp>
      <p:sp>
        <p:nvSpPr>
          <p:cNvPr id="5" name="Footer Placeholder 4">
            <a:extLst>
              <a:ext uri="{FF2B5EF4-FFF2-40B4-BE49-F238E27FC236}">
                <a16:creationId xmlns:a16="http://schemas.microsoft.com/office/drawing/2014/main" id="{5EF5AD76-3AF7-D81C-3F78-AC9E2E5C1F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15F419-14CF-FC87-4FC4-261DBED977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C1C738-21E7-C64F-9639-166B21129A20}" type="slidenum">
              <a:rPr lang="en-US" smtClean="0"/>
              <a:t>‹#›</a:t>
            </a:fld>
            <a:endParaRPr lang="en-US"/>
          </a:p>
        </p:txBody>
      </p:sp>
    </p:spTree>
    <p:extLst>
      <p:ext uri="{BB962C8B-B14F-4D97-AF65-F5344CB8AC3E}">
        <p14:creationId xmlns:p14="http://schemas.microsoft.com/office/powerpoint/2010/main" val="673168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74DAFA-1670-E809-2548-9BCB99470449}"/>
              </a:ext>
            </a:extLst>
          </p:cNvPr>
          <p:cNvSpPr>
            <a:spLocks noGrp="1"/>
          </p:cNvSpPr>
          <p:nvPr>
            <p:ph type="ctrTitle"/>
          </p:nvPr>
        </p:nvSpPr>
        <p:spPr>
          <a:xfrm>
            <a:off x="5232400" y="1354819"/>
            <a:ext cx="6124576" cy="2678363"/>
          </a:xfrm>
        </p:spPr>
        <p:txBody>
          <a:bodyPr>
            <a:normAutofit/>
          </a:bodyPr>
          <a:lstStyle/>
          <a:p>
            <a:pPr algn="r"/>
            <a:r>
              <a:rPr lang="en-US" sz="7200" dirty="0">
                <a:solidFill>
                  <a:schemeClr val="bg1"/>
                </a:solidFill>
              </a:rPr>
              <a:t>COSSUP OFR NLP</a:t>
            </a:r>
          </a:p>
        </p:txBody>
      </p:sp>
      <p:sp>
        <p:nvSpPr>
          <p:cNvPr id="3" name="Subtitle 2">
            <a:extLst>
              <a:ext uri="{FF2B5EF4-FFF2-40B4-BE49-F238E27FC236}">
                <a16:creationId xmlns:a16="http://schemas.microsoft.com/office/drawing/2014/main" id="{B6062A4F-F534-1539-B699-E38F6B1ED46D}"/>
              </a:ext>
            </a:extLst>
          </p:cNvPr>
          <p:cNvSpPr>
            <a:spLocks noGrp="1"/>
          </p:cNvSpPr>
          <p:nvPr>
            <p:ph type="subTitle" idx="1"/>
          </p:nvPr>
        </p:nvSpPr>
        <p:spPr>
          <a:xfrm>
            <a:off x="5228702" y="4414180"/>
            <a:ext cx="6128274" cy="1320698"/>
          </a:xfrm>
        </p:spPr>
        <p:txBody>
          <a:bodyPr>
            <a:normAutofit lnSpcReduction="10000"/>
          </a:bodyPr>
          <a:lstStyle/>
          <a:p>
            <a:pPr algn="r"/>
            <a:r>
              <a:rPr lang="en-US" dirty="0">
                <a:solidFill>
                  <a:schemeClr val="bg1"/>
                </a:solidFill>
              </a:rPr>
              <a:t>Nick Anthony, MS</a:t>
            </a:r>
          </a:p>
          <a:p>
            <a:pPr algn="r"/>
            <a:r>
              <a:rPr lang="en-US" dirty="0">
                <a:solidFill>
                  <a:schemeClr val="bg1"/>
                </a:solidFill>
              </a:rPr>
              <a:t>Chris </a:t>
            </a:r>
            <a:r>
              <a:rPr lang="en-US" dirty="0" err="1">
                <a:solidFill>
                  <a:schemeClr val="bg1"/>
                </a:solidFill>
              </a:rPr>
              <a:t>Delcher</a:t>
            </a:r>
            <a:r>
              <a:rPr lang="en-US" dirty="0">
                <a:solidFill>
                  <a:schemeClr val="bg1"/>
                </a:solidFill>
              </a:rPr>
              <a:t>, PhD</a:t>
            </a:r>
          </a:p>
          <a:p>
            <a:pPr algn="r"/>
            <a:r>
              <a:rPr lang="en-US" dirty="0">
                <a:solidFill>
                  <a:schemeClr val="bg1"/>
                </a:solidFill>
              </a:rPr>
              <a:t>University of Kentucky</a:t>
            </a:r>
          </a:p>
        </p:txBody>
      </p:sp>
      <p:sp>
        <p:nvSpPr>
          <p:cNvPr id="25" name="Freeform: Shape 24">
            <a:extLst>
              <a:ext uri="{FF2B5EF4-FFF2-40B4-BE49-F238E27FC236}">
                <a16:creationId xmlns:a16="http://schemas.microsoft.com/office/drawing/2014/main" id="{E253338B-EC15-4112-B0AA-4135021E9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7" name="Group 26">
            <a:extLst>
              <a:ext uri="{FF2B5EF4-FFF2-40B4-BE49-F238E27FC236}">
                <a16:creationId xmlns:a16="http://schemas.microsoft.com/office/drawing/2014/main" id="{431899EE-49A4-469F-BDB5-0A178C5510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effectLst>
            <a:outerShdw blurRad="381000" dist="152400" algn="l" rotWithShape="0">
              <a:prstClr val="black">
                <a:alpha val="10000"/>
              </a:prstClr>
            </a:outerShdw>
          </a:effectLst>
        </p:grpSpPr>
        <p:sp>
          <p:nvSpPr>
            <p:cNvPr id="28" name="Freeform: Shape 27">
              <a:extLst>
                <a:ext uri="{FF2B5EF4-FFF2-40B4-BE49-F238E27FC236}">
                  <a16:creationId xmlns:a16="http://schemas.microsoft.com/office/drawing/2014/main" id="{463E0550-0AFD-458E-A821-787F4CB6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9BC5702A-BA45-4A2C-99DC-525993A9C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97885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FD734BC-7BF9-DB3F-77D8-817656405114}"/>
              </a:ext>
            </a:extLst>
          </p:cNvPr>
          <p:cNvSpPr>
            <a:spLocks noGrp="1"/>
          </p:cNvSpPr>
          <p:nvPr>
            <p:ph type="title"/>
          </p:nvPr>
        </p:nvSpPr>
        <p:spPr>
          <a:xfrm>
            <a:off x="838200" y="1195697"/>
            <a:ext cx="3200400" cy="4238118"/>
          </a:xfrm>
        </p:spPr>
        <p:txBody>
          <a:bodyPr>
            <a:normAutofit/>
          </a:bodyPr>
          <a:lstStyle/>
          <a:p>
            <a:r>
              <a:rPr lang="en-US" dirty="0">
                <a:solidFill>
                  <a:schemeClr val="bg1"/>
                </a:solidFill>
              </a:rPr>
              <a:t>Natural Language Processing (NLP) Overview</a:t>
            </a:r>
          </a:p>
        </p:txBody>
      </p:sp>
      <p:grpSp>
        <p:nvGrpSpPr>
          <p:cNvPr id="40"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41" name="Freeform: Shape 40">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44" name="Oval 43">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Oval 45">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8"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49" name="Freeform: Shape 48">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18" name="Content Placeholder 2">
            <a:extLst>
              <a:ext uri="{FF2B5EF4-FFF2-40B4-BE49-F238E27FC236}">
                <a16:creationId xmlns:a16="http://schemas.microsoft.com/office/drawing/2014/main" id="{A68C77F4-E941-A72C-AA7A-C52747E4AE07}"/>
              </a:ext>
            </a:extLst>
          </p:cNvPr>
          <p:cNvGraphicFramePr>
            <a:graphicFrameLocks noGrp="1"/>
          </p:cNvGraphicFramePr>
          <p:nvPr>
            <p:ph idx="1"/>
            <p:extLst>
              <p:ext uri="{D42A27DB-BD31-4B8C-83A1-F6EECF244321}">
                <p14:modId xmlns:p14="http://schemas.microsoft.com/office/powerpoint/2010/main" val="3920560976"/>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9498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30B4D4-5B6E-981A-1D70-B56FA3E2445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Project Architecture Overview</a:t>
            </a:r>
          </a:p>
        </p:txBody>
      </p:sp>
      <p:pic>
        <p:nvPicPr>
          <p:cNvPr id="17" name="Content Placeholder 10" descr="A diagram of a process&#10;&#10;Description automatically generated">
            <a:extLst>
              <a:ext uri="{FF2B5EF4-FFF2-40B4-BE49-F238E27FC236}">
                <a16:creationId xmlns:a16="http://schemas.microsoft.com/office/drawing/2014/main" id="{9002F1CE-24F6-103C-0877-79DA05D451E2}"/>
              </a:ext>
            </a:extLst>
          </p:cNvPr>
          <p:cNvPicPr>
            <a:picLocks noChangeAspect="1"/>
          </p:cNvPicPr>
          <p:nvPr/>
        </p:nvPicPr>
        <p:blipFill>
          <a:blip r:embed="rId3"/>
          <a:stretch>
            <a:fillRect/>
          </a:stretch>
        </p:blipFill>
        <p:spPr>
          <a:xfrm>
            <a:off x="4038600" y="992304"/>
            <a:ext cx="7188199" cy="4870002"/>
          </a:xfrm>
          <a:prstGeom prst="rect">
            <a:avLst/>
          </a:prstGeom>
        </p:spPr>
      </p:pic>
    </p:spTree>
    <p:extLst>
      <p:ext uri="{BB962C8B-B14F-4D97-AF65-F5344CB8AC3E}">
        <p14:creationId xmlns:p14="http://schemas.microsoft.com/office/powerpoint/2010/main" val="157173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88BD45-EB50-6FFE-D380-E97D586B845D}"/>
              </a:ext>
            </a:extLst>
          </p:cNvPr>
          <p:cNvSpPr>
            <a:spLocks noGrp="1"/>
          </p:cNvSpPr>
          <p:nvPr>
            <p:ph type="title"/>
          </p:nvPr>
        </p:nvSpPr>
        <p:spPr>
          <a:xfrm>
            <a:off x="838200" y="1195697"/>
            <a:ext cx="3200400" cy="4238118"/>
          </a:xfrm>
        </p:spPr>
        <p:txBody>
          <a:bodyPr>
            <a:normAutofit/>
          </a:bodyPr>
          <a:lstStyle/>
          <a:p>
            <a:r>
              <a:rPr lang="en-US">
                <a:solidFill>
                  <a:schemeClr val="bg1"/>
                </a:solidFill>
              </a:rPr>
              <a:t>Current Status</a:t>
            </a:r>
          </a:p>
        </p:txBody>
      </p:sp>
      <p:grpSp>
        <p:nvGrpSpPr>
          <p:cNvPr id="48"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49" name="Freeform: Shape 48">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52" name="Oval 51">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Oval 53">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6"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57" name="Freeform: Shape 56">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18" name="Content Placeholder 2">
            <a:extLst>
              <a:ext uri="{FF2B5EF4-FFF2-40B4-BE49-F238E27FC236}">
                <a16:creationId xmlns:a16="http://schemas.microsoft.com/office/drawing/2014/main" id="{56C180C9-1150-E8A2-C64B-11F7DFF72C0A}"/>
              </a:ext>
            </a:extLst>
          </p:cNvPr>
          <p:cNvGraphicFramePr>
            <a:graphicFrameLocks noGrp="1"/>
          </p:cNvGraphicFramePr>
          <p:nvPr>
            <p:ph idx="1"/>
            <p:extLst>
              <p:ext uri="{D42A27DB-BD31-4B8C-83A1-F6EECF244321}">
                <p14:modId xmlns:p14="http://schemas.microsoft.com/office/powerpoint/2010/main" val="2927034539"/>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2665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EC148A-71B6-F191-177C-7BB258A4A446}"/>
              </a:ext>
            </a:extLst>
          </p:cNvPr>
          <p:cNvSpPr>
            <a:spLocks noGrp="1"/>
          </p:cNvSpPr>
          <p:nvPr>
            <p:ph type="title"/>
          </p:nvPr>
        </p:nvSpPr>
        <p:spPr>
          <a:xfrm>
            <a:off x="838200" y="1195697"/>
            <a:ext cx="3200400" cy="4238118"/>
          </a:xfrm>
        </p:spPr>
        <p:txBody>
          <a:bodyPr>
            <a:normAutofit/>
          </a:bodyPr>
          <a:lstStyle/>
          <a:p>
            <a:r>
              <a:rPr lang="en-US">
                <a:solidFill>
                  <a:schemeClr val="bg1"/>
                </a:solidFill>
              </a:rPr>
              <a:t>Next Steps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215748BC-4B7E-A67D-6CEC-4D6EB53BD3A7}"/>
              </a:ext>
            </a:extLst>
          </p:cNvPr>
          <p:cNvGraphicFramePr>
            <a:graphicFrameLocks noGrp="1"/>
          </p:cNvGraphicFramePr>
          <p:nvPr>
            <p:ph idx="1"/>
            <p:extLst>
              <p:ext uri="{D42A27DB-BD31-4B8C-83A1-F6EECF244321}">
                <p14:modId xmlns:p14="http://schemas.microsoft.com/office/powerpoint/2010/main" val="4245174715"/>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4259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1393</TotalTime>
  <Words>691</Words>
  <Application>Microsoft Macintosh PowerPoint</Application>
  <PresentationFormat>Widescreen</PresentationFormat>
  <Paragraphs>64</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COSSUP OFR NLP</vt:lpstr>
      <vt:lpstr>Natural Language Processing (NLP) Overview</vt:lpstr>
      <vt:lpstr>Project Architecture Overview</vt:lpstr>
      <vt:lpstr>Current Status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Anthony</dc:creator>
  <cp:lastModifiedBy>Nick Anthony</cp:lastModifiedBy>
  <cp:revision>23</cp:revision>
  <dcterms:created xsi:type="dcterms:W3CDTF">2024-09-10T19:01:25Z</dcterms:created>
  <dcterms:modified xsi:type="dcterms:W3CDTF">2024-09-13T15:54:34Z</dcterms:modified>
</cp:coreProperties>
</file>